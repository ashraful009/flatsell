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42" r:id="rId1"/>
  </p:sldMasterIdLst>
  <p:sldIdLst>
    <p:sldId id="310" r:id="rId2"/>
    <p:sldId id="257" r:id="rId3"/>
    <p:sldId id="268" r:id="rId4"/>
    <p:sldId id="293" r:id="rId5"/>
    <p:sldId id="269" r:id="rId6"/>
    <p:sldId id="258" r:id="rId7"/>
    <p:sldId id="270" r:id="rId8"/>
    <p:sldId id="292" r:id="rId9"/>
    <p:sldId id="259" r:id="rId10"/>
    <p:sldId id="260" r:id="rId11"/>
    <p:sldId id="261" r:id="rId12"/>
    <p:sldId id="262" r:id="rId13"/>
    <p:sldId id="291" r:id="rId14"/>
    <p:sldId id="263" r:id="rId15"/>
    <p:sldId id="264" r:id="rId16"/>
    <p:sldId id="265" r:id="rId17"/>
    <p:sldId id="266" r:id="rId18"/>
    <p:sldId id="267" r:id="rId19"/>
    <p:sldId id="271" r:id="rId20"/>
    <p:sldId id="274" r:id="rId21"/>
    <p:sldId id="294" r:id="rId22"/>
    <p:sldId id="275" r:id="rId23"/>
    <p:sldId id="309" r:id="rId24"/>
    <p:sldId id="276" r:id="rId25"/>
    <p:sldId id="277" r:id="rId26"/>
    <p:sldId id="295" r:id="rId27"/>
    <p:sldId id="278" r:id="rId28"/>
    <p:sldId id="307" r:id="rId29"/>
    <p:sldId id="308" r:id="rId30"/>
    <p:sldId id="296" r:id="rId31"/>
    <p:sldId id="279" r:id="rId32"/>
    <p:sldId id="280" r:id="rId33"/>
    <p:sldId id="311" r:id="rId34"/>
    <p:sldId id="312" r:id="rId35"/>
    <p:sldId id="282" r:id="rId36"/>
    <p:sldId id="283" r:id="rId37"/>
    <p:sldId id="284" r:id="rId38"/>
    <p:sldId id="285" r:id="rId39"/>
    <p:sldId id="286" r:id="rId40"/>
    <p:sldId id="287" r:id="rId41"/>
    <p:sldId id="289" r:id="rId42"/>
    <p:sldId id="297" r:id="rId43"/>
    <p:sldId id="300" r:id="rId44"/>
    <p:sldId id="301" r:id="rId45"/>
    <p:sldId id="298" r:id="rId46"/>
    <p:sldId id="299" r:id="rId47"/>
    <p:sldId id="302" r:id="rId48"/>
    <p:sldId id="305" r:id="rId49"/>
    <p:sldId id="306" r:id="rId50"/>
    <p:sldId id="304" r:id="rId51"/>
    <p:sldId id="303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72" y="-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3478A-D80F-4EB1-9F53-61A962ABE3AC}" type="datetimeFigureOut">
              <a:rPr lang="en-US" smtClean="0"/>
              <a:t>31-May-26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780A1-2857-485F-94A2-791530FF0B5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3584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3478A-D80F-4EB1-9F53-61A962ABE3AC}" type="datetimeFigureOut">
              <a:rPr lang="en-US" smtClean="0"/>
              <a:t>31-May-26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780A1-2857-485F-94A2-791530FF0B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584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3478A-D80F-4EB1-9F53-61A962ABE3AC}" type="datetimeFigureOut">
              <a:rPr lang="en-US" smtClean="0"/>
              <a:t>31-May-26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780A1-2857-485F-94A2-791530FF0B5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0200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3478A-D80F-4EB1-9F53-61A962ABE3AC}" type="datetimeFigureOut">
              <a:rPr lang="en-US" smtClean="0"/>
              <a:t>31-May-26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780A1-2857-485F-94A2-791530FF0B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20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3478A-D80F-4EB1-9F53-61A962ABE3AC}" type="datetimeFigureOut">
              <a:rPr lang="en-US" smtClean="0"/>
              <a:t>31-May-26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780A1-2857-485F-94A2-791530FF0B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56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3478A-D80F-4EB1-9F53-61A962ABE3AC}" type="datetimeFigureOut">
              <a:rPr lang="en-US" smtClean="0"/>
              <a:t>31-May-26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780A1-2857-485F-94A2-791530FF0B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407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3478A-D80F-4EB1-9F53-61A962ABE3AC}" type="datetimeFigureOut">
              <a:rPr lang="en-US" smtClean="0"/>
              <a:t>31-May-26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780A1-2857-485F-94A2-791530FF0B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591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B83478A-D80F-4EB1-9F53-61A962ABE3AC}" type="datetimeFigureOut">
              <a:rPr lang="en-US" smtClean="0"/>
              <a:t>31-May-26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74780A1-2857-485F-94A2-791530FF0B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645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3478A-D80F-4EB1-9F53-61A962ABE3AC}" type="datetimeFigureOut">
              <a:rPr lang="en-US" smtClean="0"/>
              <a:t>31-May-26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780A1-2857-485F-94A2-791530FF0B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2321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3478A-D80F-4EB1-9F53-61A962ABE3AC}" type="datetimeFigureOut">
              <a:rPr lang="en-US" smtClean="0"/>
              <a:t>31-May-26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780A1-2857-485F-94A2-791530FF0B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321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3478A-D80F-4EB1-9F53-61A962ABE3AC}" type="datetimeFigureOut">
              <a:rPr lang="en-US" smtClean="0"/>
              <a:t>31-May-26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780A1-2857-485F-94A2-791530FF0B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829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B83478A-D80F-4EB1-9F53-61A962ABE3AC}" type="datetimeFigureOut">
              <a:rPr lang="en-US" smtClean="0"/>
              <a:t>31-May-26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74780A1-2857-485F-94A2-791530FF0B5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2852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3" r:id="rId1"/>
    <p:sldLayoutId id="2147483944" r:id="rId2"/>
    <p:sldLayoutId id="2147483945" r:id="rId3"/>
    <p:sldLayoutId id="2147483946" r:id="rId4"/>
    <p:sldLayoutId id="2147483947" r:id="rId5"/>
    <p:sldLayoutId id="2147483948" r:id="rId6"/>
    <p:sldLayoutId id="2147483949" r:id="rId7"/>
    <p:sldLayoutId id="2147483950" r:id="rId8"/>
    <p:sldLayoutId id="2147483951" r:id="rId9"/>
    <p:sldLayoutId id="2147483952" r:id="rId10"/>
    <p:sldLayoutId id="214748395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WordArt 5"/>
          <p:cNvSpPr>
            <a:spLocks noChangeArrowheads="1" noChangeShapeType="1" noTextEdit="1"/>
          </p:cNvSpPr>
          <p:nvPr/>
        </p:nvSpPr>
        <p:spPr bwMode="auto">
          <a:xfrm>
            <a:off x="992778" y="321276"/>
            <a:ext cx="10244183" cy="267789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1200" b="1" kern="10" spc="240" dirty="0" smtClean="0">
                <a:ln w="9525">
                  <a:solidFill>
                    <a:srgbClr val="008000"/>
                  </a:solidFill>
                  <a:round/>
                  <a:headEnd/>
                  <a:tailEnd/>
                </a:ln>
                <a:solidFill>
                  <a:srgbClr val="008000"/>
                </a:solidFill>
                <a:latin typeface="Arial Narrow"/>
              </a:rPr>
              <a:t>IUBAT–INTERNATIONAL </a:t>
            </a:r>
            <a:r>
              <a:rPr lang="en-US" sz="1200" b="1" kern="10" spc="240" dirty="0" smtClean="0">
                <a:ln w="9525">
                  <a:solidFill>
                    <a:srgbClr val="008000"/>
                  </a:solidFill>
                  <a:round/>
                  <a:headEnd/>
                  <a:tailEnd/>
                </a:ln>
                <a:solidFill>
                  <a:srgbClr val="008000"/>
                </a:solidFill>
                <a:effectLst/>
                <a:latin typeface="Arial Narrow"/>
              </a:rPr>
              <a:t>UNIVERSITY OF BUSINESS AGRICULTURE AND TECHNOLOGY</a:t>
            </a:r>
            <a:endParaRPr lang="en-US" sz="1200" b="1" kern="10" spc="240" dirty="0">
              <a:ln w="9525">
                <a:solidFill>
                  <a:srgbClr val="008000"/>
                </a:solidFill>
                <a:round/>
                <a:headEnd/>
                <a:tailEnd/>
              </a:ln>
              <a:solidFill>
                <a:srgbClr val="008000"/>
              </a:solidFill>
              <a:effectLst/>
              <a:latin typeface="Arial Narrow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165601" y="713602"/>
            <a:ext cx="29633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en-US" sz="1200" b="1" i="1" dirty="0" smtClean="0">
                <a:solidFill>
                  <a:srgbClr val="008000"/>
                </a:solidFill>
                <a:latin typeface="Arial" pitchFamily="34" charset="0"/>
                <a:ea typeface="Times New Roman" pitchFamily="18" charset="0"/>
                <a:cs typeface="Times New Roman" pitchFamily="18" charset="0"/>
              </a:rPr>
              <a:t>Founded 1991 by Md. Alimullah Miyan</a:t>
            </a:r>
            <a:endParaRPr lang="en-US" sz="1100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1600" y="152400"/>
            <a:ext cx="8128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Rectangle 13"/>
          <p:cNvSpPr/>
          <p:nvPr/>
        </p:nvSpPr>
        <p:spPr>
          <a:xfrm>
            <a:off x="914400" y="990601"/>
            <a:ext cx="104648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Development of Flat booking System for ICS system solution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3943179" y="3744098"/>
            <a:ext cx="520174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 smtClean="0"/>
              <a:t>Department of Computer Science &amp; </a:t>
            </a:r>
            <a:r>
              <a:rPr lang="en-US" sz="2000" dirty="0" smtClean="0"/>
              <a:t>Engineering</a:t>
            </a:r>
            <a:endParaRPr lang="en-US" sz="2000" dirty="0"/>
          </a:p>
        </p:txBody>
      </p:sp>
      <p:sp>
        <p:nvSpPr>
          <p:cNvPr id="18" name="Rectangle 17"/>
          <p:cNvSpPr/>
          <p:nvPr/>
        </p:nvSpPr>
        <p:spPr>
          <a:xfrm>
            <a:off x="5689600" y="4724400"/>
            <a:ext cx="64008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b="1" u="sng" dirty="0" smtClean="0">
                <a:latin typeface="Times New Roman" pitchFamily="18" charset="0"/>
                <a:cs typeface="Times New Roman" pitchFamily="18" charset="0"/>
              </a:rPr>
              <a:t>Prepared by:</a:t>
            </a: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Student Name: MD.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Ashraful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slam</a:t>
            </a: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Student ID: 22103051</a:t>
            </a:r>
          </a:p>
        </p:txBody>
      </p:sp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343896" y="198120"/>
            <a:ext cx="644905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7" name="Rectangle 16"/>
          <p:cNvSpPr/>
          <p:nvPr/>
        </p:nvSpPr>
        <p:spPr>
          <a:xfrm>
            <a:off x="203200" y="4724400"/>
            <a:ext cx="46736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b="1" u="sng" dirty="0" smtClean="0">
                <a:latin typeface="Times New Roman" pitchFamily="18" charset="0"/>
                <a:cs typeface="Times New Roman" pitchFamily="18" charset="0"/>
              </a:rPr>
              <a:t>Supervised by:</a:t>
            </a: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Faculty Name :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Toyeer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-E-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Ferdous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Designation :Assistant Professor</a:t>
            </a:r>
          </a:p>
        </p:txBody>
      </p:sp>
      <p:pic>
        <p:nvPicPr>
          <p:cNvPr id="19" name="Picture 18" descr="Logo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6898" y="3744098"/>
            <a:ext cx="609600" cy="470535"/>
          </a:xfrm>
          <a:prstGeom prst="rect">
            <a:avLst/>
          </a:prstGeom>
          <a:noFill/>
        </p:spPr>
      </p:pic>
      <p:sp>
        <p:nvSpPr>
          <p:cNvPr id="2" name="TextBox 1"/>
          <p:cNvSpPr txBox="1"/>
          <p:nvPr/>
        </p:nvSpPr>
        <p:spPr>
          <a:xfrm>
            <a:off x="3062553" y="2034746"/>
            <a:ext cx="59477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		Course </a:t>
            </a: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Code: Practicum CSC 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490</a:t>
            </a:r>
          </a:p>
          <a:p>
            <a:pPr algn="ctr"/>
            <a:r>
              <a:rPr lang="en-US" sz="3200" b="1" dirty="0" smtClean="0">
                <a:latin typeface="Times New Roman" pitchFamily="18" charset="0"/>
                <a:cs typeface="Times New Roman" pitchFamily="18" charset="0"/>
              </a:rPr>
              <a:t>Prepared 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for: </a:t>
            </a: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en-US" sz="3200" dirty="0">
                <a:latin typeface="Times New Roman" pitchFamily="18" charset="0"/>
                <a:cs typeface="Times New Roman" pitchFamily="18" charset="0"/>
              </a:rPr>
            </a:br>
            <a:r>
              <a:rPr lang="en-US" sz="2800" b="1" dirty="0">
                <a:latin typeface="Times New Roman" pitchFamily="18" charset="0"/>
                <a:cs typeface="Times New Roman" pitchFamily="18" charset="0"/>
              </a:rPr>
              <a:t>Practicum Defense Committee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756563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E074843-529B-BD5B-FB92-BEBF9D49B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34626"/>
          </a:xfrm>
        </p:spPr>
        <p:txBody>
          <a:bodyPr/>
          <a:lstStyle/>
          <a:p>
            <a:pPr algn="ctr"/>
            <a:r>
              <a:rPr lang="en-US" b="1" dirty="0">
                <a:latin typeface="Lucida Calligraphy" panose="03010101010101010101" pitchFamily="66" charset="0"/>
                <a:cs typeface="Times New Roman" panose="02020603050405020304" pitchFamily="18" charset="0"/>
              </a:rPr>
              <a:t>Contents</a:t>
            </a:r>
            <a:endParaRPr lang="en-US" dirty="0">
              <a:latin typeface="Lucida Calligraphy" panose="03010101010101010101" pitchFamily="66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5B1E2E9-1B5F-0997-D447-42E82C89C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0" y="1393371"/>
            <a:ext cx="9871755" cy="5178025"/>
          </a:xfrm>
        </p:spPr>
        <p:txBody>
          <a:bodyPr>
            <a:normAutofit fontScale="250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7200" b="1" dirty="0"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7200" b="1" dirty="0">
                <a:latin typeface="Times New Roman"/>
                <a:ea typeface="Times New Roman"/>
                <a:cs typeface="Times New Roman"/>
                <a:sym typeface="Times New Roman"/>
              </a:rPr>
              <a:t>Organizational Overview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7200" b="1" dirty="0">
                <a:latin typeface="Times New Roman"/>
                <a:ea typeface="Times New Roman"/>
                <a:cs typeface="Times New Roman"/>
                <a:sym typeface="Times New Roman"/>
              </a:rPr>
              <a:t>Project Overview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7200" b="1" dirty="0">
                <a:latin typeface="Times New Roman"/>
                <a:ea typeface="Times New Roman"/>
                <a:cs typeface="Times New Roman"/>
                <a:sym typeface="Times New Roman"/>
              </a:rPr>
              <a:t>Requirement Engineering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7200" b="1" dirty="0">
                <a:latin typeface="Times New Roman"/>
                <a:ea typeface="Times New Roman"/>
                <a:cs typeface="Times New Roman"/>
                <a:sym typeface="Times New Roman"/>
              </a:rPr>
              <a:t>Use Case Diagram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7200" b="1" dirty="0">
                <a:latin typeface="Times New Roman"/>
                <a:ea typeface="Times New Roman"/>
                <a:cs typeface="Times New Roman"/>
                <a:sym typeface="Times New Roman"/>
              </a:rPr>
              <a:t>System Planning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7200" b="1" dirty="0">
                <a:latin typeface="Times New Roman"/>
                <a:ea typeface="Times New Roman"/>
                <a:cs typeface="Times New Roman"/>
                <a:sym typeface="Times New Roman"/>
              </a:rPr>
              <a:t>Risk Management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" sz="7200" b="1" dirty="0">
                <a:latin typeface="Times New Roman"/>
                <a:ea typeface="Times New Roman"/>
                <a:cs typeface="Times New Roman"/>
                <a:sym typeface="Times New Roman"/>
              </a:rPr>
              <a:t>Activity Diagram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7200" b="1" dirty="0" smtClean="0">
                <a:latin typeface="Times New Roman"/>
                <a:ea typeface="Times New Roman"/>
                <a:cs typeface="Times New Roman"/>
                <a:sym typeface="Times New Roman"/>
              </a:rPr>
              <a:t>Entity </a:t>
            </a:r>
            <a:r>
              <a:rPr lang="en-US" sz="7200" b="1" dirty="0">
                <a:latin typeface="Times New Roman"/>
                <a:ea typeface="Times New Roman"/>
                <a:cs typeface="Times New Roman"/>
                <a:sym typeface="Times New Roman"/>
              </a:rPr>
              <a:t>Relationship Diagram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7200" b="1" dirty="0">
                <a:latin typeface="Times New Roman"/>
                <a:ea typeface="Times New Roman"/>
                <a:cs typeface="Times New Roman"/>
                <a:sym typeface="Times New Roman"/>
              </a:rPr>
              <a:t>Data Flow Diagram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7200" b="1" dirty="0">
                <a:latin typeface="Times New Roman"/>
                <a:ea typeface="Times New Roman"/>
                <a:cs typeface="Times New Roman"/>
                <a:sym typeface="Times New Roman"/>
              </a:rPr>
              <a:t>Testing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7200" b="1" dirty="0"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lang="en-US" sz="7200" b="1" dirty="0">
              <a:latin typeface="Tahoma"/>
              <a:ea typeface="Tahoma"/>
              <a:cs typeface="Tahoma"/>
              <a:sym typeface="Tahoma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7200" b="1" dirty="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908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46C505F-4BAC-70B5-8B86-D13958EDC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921711"/>
          </a:xfrm>
        </p:spPr>
        <p:txBody>
          <a:bodyPr>
            <a:normAutofit/>
          </a:bodyPr>
          <a:lstStyle/>
          <a:p>
            <a:pPr algn="ctr"/>
            <a:r>
              <a:rPr lang="en-US" sz="4400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ED1CDDA-508D-8D56-0B14-67C43A925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382486"/>
            <a:ext cx="10058400" cy="4486608"/>
          </a:xfrm>
        </p:spPr>
        <p:txBody>
          <a:bodyPr>
            <a:normAutofit fontScale="92500" lnSpcReduction="20000"/>
          </a:bodyPr>
          <a:lstStyle/>
          <a:p>
            <a:endParaRPr lang="en-US" dirty="0"/>
          </a:p>
          <a:p>
            <a:pPr>
              <a:lnSpc>
                <a:spcPct val="160000"/>
              </a:lnSpc>
              <a:buFont typeface="Wingdings" panose="05000000000000000000" pitchFamily="2" charset="2"/>
              <a:buChar char="q"/>
            </a:pPr>
            <a:r>
              <a:rPr lang="en-US" dirty="0"/>
              <a:t>This project provides a complete web-based system to manage customer accounts, </a:t>
            </a:r>
            <a:r>
              <a:rPr lang="en-US" dirty="0" smtClean="0"/>
              <a:t>property, booking, </a:t>
            </a:r>
            <a:r>
              <a:rPr lang="en-US" dirty="0"/>
              <a:t>payments, and admin control with proper access roles.</a:t>
            </a:r>
          </a:p>
          <a:p>
            <a:pPr>
              <a:lnSpc>
                <a:spcPct val="160000"/>
              </a:lnSpc>
              <a:buFont typeface="Wingdings" panose="05000000000000000000" pitchFamily="2" charset="2"/>
              <a:buChar char="q"/>
            </a:pPr>
            <a:r>
              <a:rPr lang="en-US" dirty="0"/>
              <a:t>The main goal of this system is to offer a single and scalable platform where customers can easily browse </a:t>
            </a:r>
            <a:r>
              <a:rPr lang="en-US" dirty="0" smtClean="0"/>
              <a:t>property, booking property, </a:t>
            </a:r>
            <a:r>
              <a:rPr lang="en-US" dirty="0"/>
              <a:t>and make secure payments at lower effort.</a:t>
            </a:r>
          </a:p>
          <a:p>
            <a:pPr>
              <a:lnSpc>
                <a:spcPct val="160000"/>
              </a:lnSpc>
              <a:buFont typeface="Wingdings" panose="05000000000000000000" pitchFamily="2" charset="2"/>
              <a:buChar char="q"/>
            </a:pPr>
            <a:r>
              <a:rPr lang="en-US" dirty="0"/>
              <a:t>The Online </a:t>
            </a:r>
            <a:r>
              <a:rPr lang="en-US" dirty="0" smtClean="0"/>
              <a:t>real estate project </a:t>
            </a:r>
            <a:r>
              <a:rPr lang="en-US" dirty="0"/>
              <a:t>was developed to create a modern, secure, and user-friendly solution for </a:t>
            </a:r>
            <a:r>
              <a:rPr lang="en-US" dirty="0" smtClean="0"/>
              <a:t>online real estate property sell.</a:t>
            </a:r>
            <a:endParaRPr lang="en-US" dirty="0"/>
          </a:p>
          <a:p>
            <a:pPr>
              <a:lnSpc>
                <a:spcPct val="160000"/>
              </a:lnSpc>
              <a:buFont typeface="Wingdings" panose="05000000000000000000" pitchFamily="2" charset="2"/>
              <a:buChar char="q"/>
            </a:pPr>
            <a:r>
              <a:rPr lang="en-US" dirty="0"/>
              <a:t>The system improves the overall </a:t>
            </a:r>
            <a:r>
              <a:rPr lang="en-US" dirty="0" smtClean="0"/>
              <a:t>property booking experience </a:t>
            </a:r>
            <a:r>
              <a:rPr lang="en-US" dirty="0"/>
              <a:t>by bringing all features into one platform, reducing manual effort, and ensuring secure data handling </a:t>
            </a:r>
            <a:r>
              <a:rPr lang="en-US" dirty="0" smtClean="0"/>
              <a:t>using MERN stack.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184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EE7F453-7AC4-B50B-6C73-102F393F51FD}"/>
              </a:ext>
            </a:extLst>
          </p:cNvPr>
          <p:cNvSpPr txBox="1"/>
          <p:nvPr/>
        </p:nvSpPr>
        <p:spPr>
          <a:xfrm>
            <a:off x="2275114" y="2275505"/>
            <a:ext cx="794657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6000" dirty="0">
                <a:solidFill>
                  <a:schemeClr val="accent1">
                    <a:lumMod val="60000"/>
                    <a:lumOff val="40000"/>
                  </a:schemeClr>
                </a:solidFill>
                <a:latin typeface="Lucida Calligraphy" panose="03010101010101010101" pitchFamily="66" charset="0"/>
              </a:rPr>
              <a:t>Organizational Overview</a:t>
            </a:r>
            <a:endParaRPr lang="en-US" sz="6000" dirty="0">
              <a:solidFill>
                <a:schemeClr val="accent1">
                  <a:lumMod val="60000"/>
                  <a:lumOff val="40000"/>
                </a:schemeClr>
              </a:solidFill>
              <a:latin typeface="Lucida Calligraphy" panose="03010101010101010101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984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E411AB-A4B7-D4E2-AB63-8D7075A43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12854"/>
          </a:xfrm>
        </p:spPr>
        <p:txBody>
          <a:bodyPr>
            <a:normAutofit/>
          </a:bodyPr>
          <a:lstStyle/>
          <a:p>
            <a:pPr algn="ctr"/>
            <a:r>
              <a:rPr lang="en-US" sz="4000" dirty="0">
                <a:latin typeface="Times New Roman" pitchFamily="18" charset="0"/>
                <a:cs typeface="Times New Roman" pitchFamily="18" charset="0"/>
              </a:rPr>
              <a:t>Organizational Overview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3C1E8D3-3092-E7DB-2906-7778712D6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17914"/>
            <a:ext cx="10058400" cy="4051180"/>
          </a:xfrm>
        </p:spPr>
        <p:txBody>
          <a:bodyPr/>
          <a:lstStyle/>
          <a:p>
            <a:pPr algn="just"/>
            <a:r>
              <a:rPr lang="en-US" dirty="0" smtClean="0">
                <a:solidFill>
                  <a:schemeClr val="tx1"/>
                </a:solidFill>
              </a:rPr>
              <a:t>ICS System Solution </a:t>
            </a:r>
            <a:r>
              <a:rPr lang="en-US" dirty="0">
                <a:solidFill>
                  <a:schemeClr val="tx1"/>
                </a:solidFill>
              </a:rPr>
              <a:t>that provides IT consulting and services for software development, web promotion and SEO consulting, website and mobile application design and development, and e-commerce implementation.</a:t>
            </a:r>
            <a:endParaRPr lang="en-US" dirty="0">
              <a:solidFill>
                <a:schemeClr val="tx1"/>
              </a:solidFill>
              <a:ea typeface="Times New Roman" panose="02020603050405020304" pitchFamily="18" charset="0"/>
            </a:endParaRPr>
          </a:p>
          <a:p>
            <a:pPr algn="just"/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/>
            <a:r>
              <a:rPr lang="en-US" dirty="0">
                <a:solidFill>
                  <a:schemeClr val="tx1"/>
                </a:solidFill>
              </a:rPr>
              <a:t>ICS System Solution has significantly increased its level of competence and successfully completed projects of all sizes, offering end users, companies, associations, and organizations solutions. </a:t>
            </a:r>
          </a:p>
          <a:p>
            <a:pPr algn="just"/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Organization</a:t>
            </a:r>
            <a:r>
              <a:rPr lang="en-US" sz="2400" b="1" spc="-2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Services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Web Development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Customer Software Development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8234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343FFE7-8D02-7FA3-23E4-79BCCCED3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845511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latin typeface="Times New Roman"/>
                <a:ea typeface="Times New Roman"/>
                <a:cs typeface="Times New Roman"/>
                <a:sym typeface="Times New Roman"/>
              </a:rPr>
              <a:t>Organizational Structure</a:t>
            </a:r>
            <a:endParaRPr lang="en-US" sz="4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xmlns="" id="{E6110F6A-0877-DAA6-1BC6-46758DEA9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93"/>
          <a:stretch>
            <a:fillRect/>
          </a:stretch>
        </p:blipFill>
        <p:spPr>
          <a:xfrm>
            <a:off x="1012371" y="1295400"/>
            <a:ext cx="10286999" cy="4691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863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EBEA20E-A7F6-8C38-3CFA-844E26B97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89054"/>
          </a:xfrm>
        </p:spPr>
        <p:txBody>
          <a:bodyPr>
            <a:normAutofit/>
          </a:bodyPr>
          <a:lstStyle/>
          <a:p>
            <a:pPr algn="ctr"/>
            <a:r>
              <a:rPr lang="en-US" sz="4400" b="1" dirty="0"/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2D23DC2-2508-A4ED-C3AE-7FA247410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71" y="1698170"/>
            <a:ext cx="10896600" cy="4484915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The Online </a:t>
            </a:r>
            <a:r>
              <a:rPr lang="en-US" sz="2400" dirty="0" smtClean="0"/>
              <a:t>flat booking system was </a:t>
            </a:r>
            <a:r>
              <a:rPr lang="en-US" sz="2400" dirty="0"/>
              <a:t>developed to address the challenges of fragmented offline </a:t>
            </a:r>
            <a:r>
              <a:rPr lang="en-US" sz="2400" dirty="0" smtClean="0"/>
              <a:t>flat booking markets</a:t>
            </a:r>
            <a:r>
              <a:rPr lang="en-US" sz="2400" dirty="0"/>
              <a:t>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It provides a secure, full-stack e-commerce solution built with </a:t>
            </a:r>
            <a:r>
              <a:rPr lang="en-US" sz="2400" b="1" dirty="0" smtClean="0"/>
              <a:t>MERN stack </a:t>
            </a:r>
            <a:r>
              <a:rPr lang="en-US" sz="2400" dirty="0" smtClean="0"/>
              <a:t>for </a:t>
            </a:r>
            <a:r>
              <a:rPr lang="en-US" sz="2400" dirty="0"/>
              <a:t>browsing, </a:t>
            </a:r>
            <a:r>
              <a:rPr lang="en-US" sz="2400" dirty="0" smtClean="0"/>
              <a:t>booking , </a:t>
            </a:r>
            <a:r>
              <a:rPr lang="en-US" sz="2400" dirty="0"/>
              <a:t>and selling </a:t>
            </a:r>
            <a:r>
              <a:rPr lang="en-US" sz="2400" dirty="0" smtClean="0"/>
              <a:t>properties.</a:t>
            </a:r>
            <a:endParaRPr lang="en-US" sz="2400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The main goal is to create a centralized, scalable platform that makes </a:t>
            </a:r>
            <a:r>
              <a:rPr lang="en-US" sz="2400" dirty="0" smtClean="0"/>
              <a:t>booking property easier and </a:t>
            </a:r>
            <a:r>
              <a:rPr lang="en-US" sz="2400" dirty="0"/>
              <a:t>more convenient for customers.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The system unifies </a:t>
            </a:r>
            <a:r>
              <a:rPr lang="en-US" sz="2400" dirty="0" smtClean="0"/>
              <a:t>property </a:t>
            </a:r>
            <a:r>
              <a:rPr lang="en-US" sz="2400" dirty="0"/>
              <a:t>browsing, </a:t>
            </a:r>
            <a:r>
              <a:rPr lang="en-US" sz="2400" dirty="0" smtClean="0"/>
              <a:t>booking </a:t>
            </a:r>
            <a:r>
              <a:rPr lang="en-US" sz="2400" dirty="0"/>
              <a:t>management, payment, and admin monitoring in one platform.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It ensures secure transactions, proper stock management, and data integrity for reliable operations.</a:t>
            </a:r>
          </a:p>
          <a:p>
            <a:pPr>
              <a:buFont typeface="Wingdings" panose="05000000000000000000" pitchFamily="2" charset="2"/>
              <a:buChar char="q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3287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A0412A9-2836-1883-BA2F-3965BE433C98}"/>
              </a:ext>
            </a:extLst>
          </p:cNvPr>
          <p:cNvSpPr txBox="1"/>
          <p:nvPr/>
        </p:nvSpPr>
        <p:spPr>
          <a:xfrm>
            <a:off x="3048000" y="1773036"/>
            <a:ext cx="609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6000" dirty="0">
                <a:solidFill>
                  <a:schemeClr val="accent1">
                    <a:lumMod val="60000"/>
                    <a:lumOff val="40000"/>
                  </a:schemeClr>
                </a:solidFill>
                <a:latin typeface="Lucida Calligraphy" panose="03010101010101010101" pitchFamily="66" charset="0"/>
              </a:rPr>
              <a:t>Project Overview</a:t>
            </a:r>
            <a:endParaRPr lang="en-US" sz="6000" dirty="0">
              <a:solidFill>
                <a:schemeClr val="accent1">
                  <a:lumMod val="60000"/>
                  <a:lumOff val="40000"/>
                </a:schemeClr>
              </a:solidFill>
              <a:latin typeface="Lucida Calligraphy" panose="03010101010101010101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6965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42FA23D-ECD4-07FD-9DA3-14CB0E71E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856397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Lucida Calligraphy" panose="03010101010101010101" pitchFamily="66" charset="0"/>
                <a:cs typeface="Times New Roman"/>
                <a:sym typeface="Times New Roman"/>
              </a:rPr>
              <a:t>Projec</a:t>
            </a:r>
            <a:r>
              <a:rPr lang="en-US" b="1" dirty="0">
                <a:latin typeface="Lucida Calligraphy" panose="03010101010101010101" pitchFamily="66" charset="0"/>
                <a:cs typeface="Times New Roman"/>
                <a:sym typeface="Times New Roman"/>
              </a:rPr>
              <a:t>t Objectives</a:t>
            </a:r>
            <a:endParaRPr lang="en-US" dirty="0">
              <a:latin typeface="Lucida Calligraphy" panose="03010101010101010101" pitchFamily="66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4D6A442-94B6-FD05-9AA5-0C25158D3F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78429"/>
            <a:ext cx="10058400" cy="489857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q"/>
            </a:pPr>
            <a:r>
              <a:rPr lang="en-US" dirty="0"/>
              <a:t>Design and develop a web-based E-Commerce system named </a:t>
            </a:r>
            <a:r>
              <a:rPr lang="en-US" b="1" dirty="0" err="1" smtClean="0"/>
              <a:t>FlatSell</a:t>
            </a:r>
            <a:endParaRPr lang="en-US" b="1" dirty="0"/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q"/>
            </a:pPr>
            <a:r>
              <a:rPr lang="en-US" dirty="0"/>
              <a:t>Enable </a:t>
            </a:r>
            <a:r>
              <a:rPr lang="en-US" b="1" dirty="0"/>
              <a:t>customers</a:t>
            </a:r>
            <a:r>
              <a:rPr lang="en-US" dirty="0"/>
              <a:t> to browse </a:t>
            </a:r>
            <a:r>
              <a:rPr lang="en-US" dirty="0" smtClean="0"/>
              <a:t>property, booking, </a:t>
            </a:r>
            <a:r>
              <a:rPr lang="en-US" dirty="0"/>
              <a:t>pay.</a:t>
            </a:r>
            <a:endParaRPr lang="en-US" b="1" dirty="0"/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q"/>
            </a:pPr>
            <a:r>
              <a:rPr lang="en-US" dirty="0"/>
              <a:t>Allow </a:t>
            </a:r>
            <a:r>
              <a:rPr lang="en-US" b="1" dirty="0"/>
              <a:t>Admin</a:t>
            </a:r>
            <a:r>
              <a:rPr lang="en-US" dirty="0"/>
              <a:t> to manage </a:t>
            </a:r>
            <a:r>
              <a:rPr lang="en-US" dirty="0"/>
              <a:t>property and </a:t>
            </a:r>
            <a:r>
              <a:rPr lang="en-US" dirty="0"/>
              <a:t>customer </a:t>
            </a:r>
            <a:r>
              <a:rPr lang="en-US" dirty="0"/>
              <a:t>booking</a:t>
            </a:r>
            <a:endParaRPr lang="en-US" dirty="0"/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q"/>
            </a:pPr>
            <a:r>
              <a:rPr lang="en-US" dirty="0"/>
              <a:t>Provide </a:t>
            </a:r>
            <a:r>
              <a:rPr lang="en-US" b="1" dirty="0"/>
              <a:t>Admin control</a:t>
            </a:r>
            <a:r>
              <a:rPr lang="en-US" dirty="0"/>
              <a:t> for </a:t>
            </a:r>
            <a:r>
              <a:rPr lang="en-US" dirty="0" smtClean="0"/>
              <a:t>user, property, vendor, </a:t>
            </a:r>
            <a:r>
              <a:rPr lang="en-US" dirty="0"/>
              <a:t>and system management</a:t>
            </a: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q"/>
            </a:pPr>
            <a:r>
              <a:rPr lang="en-US" dirty="0"/>
              <a:t>Integrate </a:t>
            </a:r>
            <a:r>
              <a:rPr lang="en-US" b="1" dirty="0"/>
              <a:t>secure payment </a:t>
            </a:r>
            <a:r>
              <a:rPr lang="en-US" b="1" dirty="0" smtClean="0"/>
              <a:t>(Stripe) </a:t>
            </a:r>
            <a:r>
              <a:rPr lang="en-US" dirty="0"/>
              <a:t>and invoice generation</a:t>
            </a: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q"/>
            </a:pPr>
            <a:r>
              <a:rPr lang="en-US" dirty="0"/>
              <a:t>To generate sales and profit reports for better business analysis.</a:t>
            </a: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q"/>
            </a:pPr>
            <a:r>
              <a:rPr lang="en-US" dirty="0"/>
              <a:t>To build a user-friendly, secure, and efficient web-based system.</a:t>
            </a:r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q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582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DAD807B-94C6-91F0-E6E5-F745AA008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411568"/>
          </a:xfrm>
        </p:spPr>
        <p:txBody>
          <a:bodyPr>
            <a:normAutofit/>
          </a:bodyPr>
          <a:lstStyle/>
          <a:p>
            <a:pPr algn="ctr"/>
            <a:r>
              <a:rPr lang="en-US" sz="4400" b="1" dirty="0">
                <a:solidFill>
                  <a:schemeClr val="tx1"/>
                </a:solidFill>
                <a:latin typeface="Lucida Calligraphy" panose="03010101010101010101" pitchFamily="66" charset="0"/>
                <a:cs typeface="Times New Roman"/>
                <a:sym typeface="Times New Roman"/>
              </a:rPr>
              <a:t>P</a:t>
            </a:r>
            <a:r>
              <a:rPr lang="en-US" sz="4400" b="1" dirty="0">
                <a:latin typeface="Lucida Calligraphy" panose="03010101010101010101" pitchFamily="66" charset="0"/>
                <a:ea typeface="Times New Roman"/>
                <a:cs typeface="Times New Roman"/>
                <a:sym typeface="Times New Roman"/>
              </a:rPr>
              <a:t>rocess model</a:t>
            </a:r>
            <a:endParaRPr lang="en-US" sz="4400" dirty="0">
              <a:latin typeface="Lucida Calligraphy" panose="03010101010101010101" pitchFamily="66" charset="0"/>
            </a:endParaRPr>
          </a:p>
        </p:txBody>
      </p:sp>
      <p:pic>
        <p:nvPicPr>
          <p:cNvPr id="2050" name="Picture 2" descr="Incremental Model in Software Development Life Cycle (SDLC): Phases,  Advantages &amp; Disadvantages | by Jayendra More | Bootcamp | Medium">
            <a:extLst>
              <a:ext uri="{FF2B5EF4-FFF2-40B4-BE49-F238E27FC236}">
                <a16:creationId xmlns:a16="http://schemas.microsoft.com/office/drawing/2014/main" xmlns="" id="{2DBF6967-90E4-8977-6B3B-888E73185C9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6469" y="1846263"/>
            <a:ext cx="8939388" cy="402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3254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49FBAFC-90A0-AA82-256A-58F783B93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370" y="478970"/>
            <a:ext cx="9762309" cy="772887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  <a:b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b="1" dirty="0">
                <a:solidFill>
                  <a:schemeClr val="tx1"/>
                </a:solidFill>
                <a:latin typeface="Lucida Calligraphy" panose="03010101010101010101" pitchFamily="66" charset="0"/>
                <a:cs typeface="Times New Roman"/>
                <a:sym typeface="Times New Roman"/>
              </a:rPr>
              <a:t>P</a:t>
            </a:r>
            <a:r>
              <a:rPr lang="en-US" b="1" dirty="0">
                <a:latin typeface="Lucida Calligraphy" panose="03010101010101010101" pitchFamily="66" charset="0"/>
                <a:ea typeface="Times New Roman"/>
                <a:cs typeface="Times New Roman"/>
                <a:sym typeface="Times New Roman"/>
              </a:rPr>
              <a:t>rocess model</a:t>
            </a:r>
            <a:endParaRPr lang="en-US" dirty="0">
              <a:latin typeface="Lucida Calligraphy" panose="03010101010101010101" pitchFamily="66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BCF2054-189E-7C27-8D32-34D5E9D53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" y="1741713"/>
            <a:ext cx="11125200" cy="4463143"/>
          </a:xfrm>
        </p:spPr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/>
              <a:t>The system was built step by step instead of all at once.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/>
              <a:t>The whole project was divided into small and easy-to-handle parts.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/>
              <a:t>Each part was planned, developed, and tested one by one.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/>
              <a:t>After completing each step, a usable version of the system was available.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/>
              <a:t>New features were added only after the previous part worked properly.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/>
              <a:t>This method helped reduce mistakes and improve the overall quality of the system.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67332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A21BE69-CF40-FBD2-1420-70EA01D9C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89857"/>
            <a:ext cx="9784080" cy="533400"/>
          </a:xfrm>
        </p:spPr>
        <p:txBody>
          <a:bodyPr>
            <a:noAutofit/>
          </a:bodyPr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Lucida Calligraphy" panose="03010101010101010101" pitchFamily="66" charset="0"/>
                <a:cs typeface="Times New Roman"/>
                <a:sym typeface="Times New Roman"/>
              </a:rPr>
              <a:t>P</a:t>
            </a:r>
            <a:r>
              <a:rPr lang="en-US" sz="3600" b="1" dirty="0">
                <a:latin typeface="Lucida Calligraphy" panose="03010101010101010101" pitchFamily="66" charset="0"/>
                <a:ea typeface="Times New Roman"/>
                <a:cs typeface="Times New Roman"/>
                <a:sym typeface="Times New Roman"/>
              </a:rPr>
              <a:t>rocess model</a:t>
            </a:r>
            <a:endParaRPr lang="en-US" sz="3600" dirty="0">
              <a:latin typeface="Lucida Calligraphy" panose="03010101010101010101" pitchFamily="66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2225336-C61A-DE94-CF20-76908CFADE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6" y="1175657"/>
            <a:ext cx="11038114" cy="4963886"/>
          </a:xfrm>
        </p:spPr>
        <p:txBody>
          <a:bodyPr/>
          <a:lstStyle/>
          <a:p>
            <a:pPr algn="ctr"/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Why This Development Model Was Chosen</a:t>
            </a:r>
          </a:p>
          <a:p>
            <a:pPr algn="ctr"/>
            <a:endParaRPr lang="en-US" b="1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It allows easy management of a large system by breaking it into parts.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Errors can be identified and fixed early at each stage.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New requirements or features can be added without affecting the whole system.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Suitable for web-based systems with multiple features like users, </a:t>
            </a:r>
            <a:r>
              <a:rPr lang="en-US" sz="2400" dirty="0" smtClean="0"/>
              <a:t>booking, </a:t>
            </a:r>
            <a:r>
              <a:rPr lang="en-US" sz="2400" dirty="0"/>
              <a:t>and payments.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Provides flexibility, better control, and proper documentation.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Ideal for academic projects with limited time and resources.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8116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C0E5A2F6-9562-48FD-4F3B-A4FB64E08A1D}"/>
              </a:ext>
            </a:extLst>
          </p:cNvPr>
          <p:cNvSpPr txBox="1"/>
          <p:nvPr/>
        </p:nvSpPr>
        <p:spPr>
          <a:xfrm>
            <a:off x="1589315" y="1894114"/>
            <a:ext cx="86868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sz="6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Lucida Calligraphy" panose="03010101010101010101" pitchFamily="66" charset="0"/>
                <a:cs typeface="Times New Roman" panose="02020603050405020304" pitchFamily="18" charset="0"/>
              </a:rPr>
              <a:t>Requirement Engineering</a:t>
            </a:r>
          </a:p>
        </p:txBody>
      </p:sp>
    </p:spTree>
    <p:extLst>
      <p:ext uri="{BB962C8B-B14F-4D97-AF65-F5344CB8AC3E}">
        <p14:creationId xmlns:p14="http://schemas.microsoft.com/office/powerpoint/2010/main" val="21666846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0A1288-74A9-0A8D-66DD-251FFFB56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500743"/>
            <a:ext cx="10058400" cy="642257"/>
          </a:xfrm>
        </p:spPr>
        <p:txBody>
          <a:bodyPr>
            <a:noAutofit/>
          </a:bodyPr>
          <a:lstStyle/>
          <a:p>
            <a:pPr algn="ctr"/>
            <a:r>
              <a:rPr lang="en-US" sz="2800" dirty="0"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  <a:br>
              <a:rPr lang="en-US" sz="28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3200" b="1" dirty="0">
                <a:latin typeface="Lucida Calligraphy" panose="03010101010101010101" pitchFamily="66" charset="0"/>
              </a:rPr>
              <a:t>User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94FB6D5-B40E-CD61-D6F8-6B836F818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1" y="1729945"/>
            <a:ext cx="10961915" cy="4118919"/>
          </a:xfrm>
        </p:spPr>
        <p:txBody>
          <a:bodyPr>
            <a:normAutofit/>
          </a:bodyPr>
          <a:lstStyle/>
          <a:p>
            <a:r>
              <a:rPr lang="en-US" sz="33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1.1 </a:t>
            </a:r>
            <a:r>
              <a:rPr lang="en-US" sz="33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SuperAdmin</a:t>
            </a:r>
            <a:r>
              <a:rPr lang="en-US" sz="33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0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Platform Oversight: Needs complete visibility and control over all platform activities, including properties, companies, and users.</a:t>
            </a:r>
          </a:p>
          <a:p>
            <a:pPr lvl="0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Workflows: Needs the ability to review and approve/reject property submissions and new vendor (company) applications.</a:t>
            </a:r>
          </a:p>
          <a:p>
            <a:pPr lvl="0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Tracking: Needs a comprehensive dashboard to track platform revenue, margins, and commissions from successful property bookings.</a:t>
            </a:r>
          </a:p>
          <a:p>
            <a:pPr lvl="0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Platform Configuration: Requires access to system-wide settings to manage platform policies and overall configurations.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91043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1451CB7-4B4C-F3DC-4ECB-185DEFE39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8056" y="286603"/>
            <a:ext cx="9827623" cy="70230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latin typeface="Lucida Calligraphy" panose="03010101010101010101" pitchFamily="66" charset="0"/>
              </a:rPr>
              <a:t>User  Requirements</a:t>
            </a:r>
            <a:endParaRPr lang="en-US" sz="3600" dirty="0">
              <a:latin typeface="Lucida Calligraphy" panose="03010101010101010101" pitchFamily="66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F97E9F8-C561-6ADF-0651-00C269F64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5" y="1746422"/>
            <a:ext cx="11059885" cy="4588475"/>
          </a:xfrm>
        </p:spPr>
        <p:txBody>
          <a:bodyPr/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 Company Admin (Vendor):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Property Management: Needs the ability to list, edit, activate, deactivate, and delete their own properties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		         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Apartments, Villas, Land).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Lead/Booking Management: Needs a dedicated workspace to view and manage customer inquiries and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property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requests.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Submission Tracking: Requires transparency on the approval status of their submitted properties.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Policy Management: Needs to define custom booking policies and terms specific to their company's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		           properties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1111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E7F425E-BB56-B62F-E10C-80881B06F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87026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smtClean="0">
                <a:latin typeface="Lucida Calligraphy" panose="03010101010101010101" pitchFamily="66" charset="0"/>
              </a:rPr>
              <a:t>user  </a:t>
            </a:r>
            <a:r>
              <a:rPr lang="en-US" sz="3200" b="1" dirty="0">
                <a:latin typeface="Lucida Calligraphy" panose="03010101010101010101" pitchFamily="66" charset="0"/>
              </a:rPr>
              <a:t>Requirements</a:t>
            </a:r>
            <a:endParaRPr lang="en-US" sz="3200" dirty="0">
              <a:latin typeface="Lucida Calligraphy" panose="03010101010101010101" pitchFamily="66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5174C3B-D41D-49C0-0E66-7D8C523CE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948542"/>
            <a:ext cx="10058400" cy="3920551"/>
          </a:xfrm>
        </p:spPr>
        <p:txBody>
          <a:bodyPr>
            <a:normAutofit lnSpcReduction="10000"/>
          </a:bodyPr>
          <a:lstStyle/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1.3 </a:t>
            </a:r>
            <a:r>
              <a:rPr lang="en-US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/ User:</a:t>
            </a:r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Property Search &amp; Viewing: Needs an intuitive interface to search, filter, and view detailed information about available properties.</a:t>
            </a:r>
          </a:p>
          <a:p>
            <a:pPr lvl="0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&amp; Purchasing: Needs a streamlined workflow to request units, pay booking money, and settle remaining dues securely.</a:t>
            </a:r>
          </a:p>
          <a:p>
            <a:pPr lvl="0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&amp; Tracking: Needs a personal dashboard to track the status of property requests, view payment statuses, and manage owned properties.</a:t>
            </a:r>
          </a:p>
          <a:p>
            <a:pPr lvl="0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Communication: Needs clear notifications regarding the status of their bookings (Pending, Confirmed, Rejected, Cancelled).</a:t>
            </a:r>
          </a:p>
        </p:txBody>
      </p:sp>
    </p:spTree>
    <p:extLst>
      <p:ext uri="{BB962C8B-B14F-4D97-AF65-F5344CB8AC3E}">
        <p14:creationId xmlns:p14="http://schemas.microsoft.com/office/powerpoint/2010/main" val="19228546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AFC7CEB-102B-39F0-592E-3A4569F84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1968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/>
              <a:t> </a:t>
            </a:r>
            <a:r>
              <a:rPr lang="en-US" sz="3200" b="1" dirty="0">
                <a:latin typeface="Lucida Calligraphy" panose="03010101010101010101" pitchFamily="66" charset="0"/>
              </a:rPr>
              <a:t>Requirements</a:t>
            </a:r>
            <a:r>
              <a:rPr lang="en-US" sz="2800" dirty="0">
                <a:latin typeface="Lucida Calligraphy" panose="03010101010101010101" pitchFamily="66" charset="0"/>
              </a:rPr>
              <a:t/>
            </a:r>
            <a:br>
              <a:rPr lang="en-US" sz="2800" dirty="0">
                <a:latin typeface="Lucida Calligraphy" panose="03010101010101010101" pitchFamily="66" charset="0"/>
              </a:rPr>
            </a:br>
            <a:endParaRPr lang="en-US" sz="2800" dirty="0">
              <a:latin typeface="Lucida Calligraphy" panose="03010101010101010101" pitchFamily="66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99C7A46-E0EE-0A52-C023-2898F41EE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306286"/>
            <a:ext cx="10058400" cy="4562808"/>
          </a:xfrm>
        </p:spPr>
        <p:txBody>
          <a:bodyPr/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</a:p>
          <a:p>
            <a:pPr>
              <a:lnSpc>
                <a:spcPct val="100000"/>
              </a:lnSpc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React 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Backend: Express 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Database:MongoDB</a:t>
            </a:r>
            <a:endParaRPr lang="en-US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REST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endpoints for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                    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• User &amp; Vendor registration/login</a:t>
            </a:r>
            <a:b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                      • Product CRUD operations</a:t>
            </a:r>
            <a:b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                      • Category CRUD operations</a:t>
            </a:r>
            <a:b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                      • Booking operations</a:t>
            </a:r>
            <a:b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                     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Payment processing</a:t>
            </a:r>
            <a:b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                     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Report generation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 UI for desktop and mobile devices.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59431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CA7BEA1-BE6D-06FF-E1CF-EAFB0B612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117654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000" b="1" dirty="0">
                <a:latin typeface="Lucida Calligraphy" panose="03010101010101010101" pitchFamily="66" charset="0"/>
              </a:rPr>
              <a:t>Requirements</a:t>
            </a:r>
            <a:r>
              <a:rPr lang="en-US" sz="4000" dirty="0"/>
              <a:t/>
            </a:r>
            <a:br>
              <a:rPr lang="en-US" sz="4000" dirty="0"/>
            </a:b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E673D56-7907-1558-0242-6596103F4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3" y="968829"/>
            <a:ext cx="11038115" cy="5083628"/>
          </a:xfrm>
        </p:spPr>
        <p:txBody>
          <a:bodyPr/>
          <a:lstStyle/>
          <a:p>
            <a:pPr algn="ctr"/>
            <a:endParaRPr lang="en-US" b="1" dirty="0"/>
          </a:p>
          <a:p>
            <a:pPr algn="ctr"/>
            <a:r>
              <a:rPr lang="en-US" b="1" dirty="0"/>
              <a:t>Non-Functional Requirements</a:t>
            </a:r>
          </a:p>
          <a:p>
            <a:pPr marL="0" indent="0" algn="ctr">
              <a:buNone/>
            </a:pPr>
            <a:endParaRPr lang="en-US" b="1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 smtClean="0"/>
              <a:t>Secure </a:t>
            </a:r>
            <a:r>
              <a:rPr lang="en-US" dirty="0"/>
              <a:t>password storage using </a:t>
            </a:r>
            <a:r>
              <a:rPr lang="en-US" dirty="0" smtClean="0"/>
              <a:t>hashing.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 smtClean="0"/>
              <a:t>Input </a:t>
            </a:r>
            <a:r>
              <a:rPr lang="en-US" dirty="0"/>
              <a:t>validation for all </a:t>
            </a:r>
            <a:r>
              <a:rPr lang="en-US" dirty="0" smtClean="0"/>
              <a:t>forms.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 smtClean="0"/>
              <a:t>Fast </a:t>
            </a:r>
            <a:r>
              <a:rPr lang="en-US" dirty="0"/>
              <a:t>response times for </a:t>
            </a:r>
            <a:r>
              <a:rPr lang="en-US" dirty="0" smtClean="0"/>
              <a:t>APIs.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 smtClean="0"/>
              <a:t>Invoice &amp; Report </a:t>
            </a:r>
            <a:r>
              <a:rPr lang="en-US" dirty="0"/>
              <a:t>generation </a:t>
            </a:r>
            <a:r>
              <a:rPr lang="en-US" dirty="0" smtClean="0"/>
              <a:t>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 smtClean="0"/>
              <a:t>Basic </a:t>
            </a:r>
            <a:r>
              <a:rPr lang="en-US" dirty="0"/>
              <a:t>error handling and notifications for users and admin.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23422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3F904E1-3F87-B3C1-7BA0-CC2EEBDAA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54368"/>
          </a:xfrm>
        </p:spPr>
        <p:txBody>
          <a:bodyPr>
            <a:normAutofit/>
          </a:bodyPr>
          <a:lstStyle/>
          <a:p>
            <a:pPr algn="ctr"/>
            <a:r>
              <a:rPr lang="en-US" sz="4400" b="1" dirty="0"/>
              <a:t>Hardware &amp; Software Requirements</a:t>
            </a:r>
            <a:endParaRPr lang="en-US" sz="44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xmlns="" id="{C52CECDA-8C84-3390-0763-35D7DF5468E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05048" y="2316317"/>
            <a:ext cx="9842863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EDC110E2-2340-3A7B-6BAD-3D24EDCDC936}"/>
              </a:ext>
            </a:extLst>
          </p:cNvPr>
          <p:cNvSpPr txBox="1"/>
          <p:nvPr/>
        </p:nvSpPr>
        <p:spPr>
          <a:xfrm>
            <a:off x="435429" y="1915886"/>
            <a:ext cx="1162594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q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&amp; Software Requirements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Client/Server side: Intel Core i7, 4GB/8GB RAM, 128GB+ SSD.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q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Requirements: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Node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Express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React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Tailwind CSS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MongoDB.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Services: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Stripe API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8771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D13C150-8E8D-E5D7-CA7C-416F7132624E}"/>
              </a:ext>
            </a:extLst>
          </p:cNvPr>
          <p:cNvSpPr txBox="1"/>
          <p:nvPr/>
        </p:nvSpPr>
        <p:spPr>
          <a:xfrm>
            <a:off x="342900" y="171945"/>
            <a:ext cx="11332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Lucida Calligraphy" panose="03010101010101010101" pitchFamily="66" charset="0"/>
              </a:rPr>
              <a:t>Use Case Diagram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EB0BE91F-4EFF-661D-6CBD-0001693734E7}"/>
              </a:ext>
            </a:extLst>
          </p:cNvPr>
          <p:cNvSpPr txBox="1"/>
          <p:nvPr/>
        </p:nvSpPr>
        <p:spPr>
          <a:xfrm>
            <a:off x="3450771" y="5878286"/>
            <a:ext cx="5116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Fig- Use Case </a:t>
            </a:r>
          </a:p>
        </p:txBody>
      </p:sp>
      <p:sp>
        <p:nvSpPr>
          <p:cNvPr id="3" name="Rectangle 2"/>
          <p:cNvSpPr/>
          <p:nvPr/>
        </p:nvSpPr>
        <p:spPr>
          <a:xfrm>
            <a:off x="1581665" y="818276"/>
            <a:ext cx="8353167" cy="5145919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2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ADF4FA45-A680-5D30-5D1A-6B090C710EA1}"/>
              </a:ext>
            </a:extLst>
          </p:cNvPr>
          <p:cNvSpPr txBox="1"/>
          <p:nvPr/>
        </p:nvSpPr>
        <p:spPr>
          <a:xfrm>
            <a:off x="3156857" y="2133992"/>
            <a:ext cx="6096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6600" dirty="0">
                <a:solidFill>
                  <a:schemeClr val="accent1">
                    <a:lumMod val="60000"/>
                    <a:lumOff val="40000"/>
                  </a:schemeClr>
                </a:solidFill>
                <a:latin typeface="Lucida Calligraphy" panose="03010101010101010101" pitchFamily="66" charset="0"/>
              </a:rPr>
              <a:t>System Planning</a:t>
            </a:r>
            <a:endParaRPr lang="en-US" sz="6600" dirty="0">
              <a:solidFill>
                <a:schemeClr val="accent1">
                  <a:lumMod val="60000"/>
                  <a:lumOff val="40000"/>
                </a:schemeClr>
              </a:solidFill>
              <a:latin typeface="Lucida Calligraphy" panose="03010101010101010101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2755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58D50B3-AA43-AACF-9A69-8BB5C37AE40E}"/>
              </a:ext>
            </a:extLst>
          </p:cNvPr>
          <p:cNvSpPr txBox="1"/>
          <p:nvPr/>
        </p:nvSpPr>
        <p:spPr>
          <a:xfrm>
            <a:off x="680357" y="315686"/>
            <a:ext cx="1083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Lucida Calligraphy" panose="03010101010101010101" pitchFamily="66" charset="0"/>
              </a:rPr>
              <a:t>Function Point Estimation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9730" y="1474572"/>
            <a:ext cx="4572000" cy="3715265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910647" y="1194487"/>
            <a:ext cx="4102443" cy="399535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433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022BADD-33FA-E6D2-9E64-256DF8D08F21}"/>
              </a:ext>
            </a:extLst>
          </p:cNvPr>
          <p:cNvSpPr txBox="1"/>
          <p:nvPr/>
        </p:nvSpPr>
        <p:spPr>
          <a:xfrm>
            <a:off x="2688772" y="30519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Lucida Calligraphy" panose="03010101010101010101" pitchFamily="66" charset="0"/>
              </a:rPr>
              <a:t>Function Point Estimation</a:t>
            </a:r>
          </a:p>
        </p:txBody>
      </p:sp>
      <p:sp>
        <p:nvSpPr>
          <p:cNvPr id="2" name="Rectangle 1"/>
          <p:cNvSpPr/>
          <p:nvPr/>
        </p:nvSpPr>
        <p:spPr>
          <a:xfrm>
            <a:off x="1293341" y="856736"/>
            <a:ext cx="9728886" cy="5321642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8924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Effort Distribution in Software Projects. | Download Scientific Diagram">
            <a:extLst>
              <a:ext uri="{FF2B5EF4-FFF2-40B4-BE49-F238E27FC236}">
                <a16:creationId xmlns:a16="http://schemas.microsoft.com/office/drawing/2014/main" xmlns="" id="{F46E7F4B-D757-1768-BDA3-1650C56093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4114" y="923925"/>
            <a:ext cx="7783286" cy="5010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58098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53440" y="952500"/>
            <a:ext cx="10683240" cy="5212080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053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C76EF0E-5C06-6A71-99C0-4138F02043F3}"/>
              </a:ext>
            </a:extLst>
          </p:cNvPr>
          <p:cNvSpPr txBox="1"/>
          <p:nvPr/>
        </p:nvSpPr>
        <p:spPr>
          <a:xfrm>
            <a:off x="3331028" y="2046905"/>
            <a:ext cx="653142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6000" dirty="0">
                <a:solidFill>
                  <a:schemeClr val="accent1">
                    <a:lumMod val="75000"/>
                  </a:schemeClr>
                </a:solidFill>
                <a:latin typeface="Lucida Calligraphy" panose="03010101010101010101" pitchFamily="66" charset="0"/>
              </a:rPr>
              <a:t>Risk Management</a:t>
            </a:r>
            <a:endParaRPr lang="en-US" sz="6000" dirty="0">
              <a:solidFill>
                <a:schemeClr val="accent1">
                  <a:lumMod val="75000"/>
                </a:schemeClr>
              </a:solidFill>
              <a:latin typeface="Lucida Calligraphy" panose="03010101010101010101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222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20F3E23B-DC72-E427-44C8-13A99FB29B84}"/>
              </a:ext>
            </a:extLst>
          </p:cNvPr>
          <p:cNvSpPr txBox="1"/>
          <p:nvPr/>
        </p:nvSpPr>
        <p:spPr>
          <a:xfrm>
            <a:off x="0" y="174172"/>
            <a:ext cx="11952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800" dirty="0">
                <a:latin typeface="Lucida Calligraphy" panose="03010101010101010101" pitchFamily="66" charset="0"/>
              </a:rPr>
              <a:t>Risk Management</a:t>
            </a:r>
            <a:endParaRPr lang="en-US" sz="2800" dirty="0">
              <a:latin typeface="Lucida Calligraphy" panose="03010101010101010101" pitchFamily="66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xmlns="" id="{9CF8FAFF-303B-9AF9-8DC7-2FEE97CCEB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7681762"/>
              </p:ext>
            </p:extLst>
          </p:nvPr>
        </p:nvGraphicFramePr>
        <p:xfrm>
          <a:off x="1611086" y="2046514"/>
          <a:ext cx="7990114" cy="3773125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2299646">
                  <a:extLst>
                    <a:ext uri="{9D8B030D-6E8A-4147-A177-3AD203B41FA5}">
                      <a16:colId xmlns:a16="http://schemas.microsoft.com/office/drawing/2014/main" xmlns="" val="3087510137"/>
                    </a:ext>
                  </a:extLst>
                </a:gridCol>
                <a:gridCol w="5690468">
                  <a:extLst>
                    <a:ext uri="{9D8B030D-6E8A-4147-A177-3AD203B41FA5}">
                      <a16:colId xmlns:a16="http://schemas.microsoft.com/office/drawing/2014/main" xmlns="" val="1006479666"/>
                    </a:ext>
                  </a:extLst>
                </a:gridCol>
              </a:tblGrid>
              <a:tr h="327730">
                <a:tc gridSpan="2">
                  <a:txBody>
                    <a:bodyPr/>
                    <a:lstStyle/>
                    <a:p>
                      <a:pPr marL="5080" marR="1270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Project</a:t>
                      </a:r>
                      <a:r>
                        <a:rPr lang="en-US" sz="1200" spc="-1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Risk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spc="-10" dirty="0">
                          <a:effectLst/>
                        </a:rPr>
                        <a:t>(P01)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709334372"/>
                  </a:ext>
                </a:extLst>
              </a:tr>
              <a:tr h="323820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20">
                          <a:effectLst/>
                        </a:rPr>
                        <a:t>Name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Change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the</a:t>
                      </a:r>
                      <a:r>
                        <a:rPr lang="en-US" sz="1200" spc="-10">
                          <a:effectLst/>
                        </a:rPr>
                        <a:t> requirements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948073160"/>
                  </a:ext>
                </a:extLst>
              </a:tr>
              <a:tr h="323820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Probability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Low(25%)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98668351"/>
                  </a:ext>
                </a:extLst>
              </a:tr>
              <a:tr h="322255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Impact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Marginal</a:t>
                      </a:r>
                      <a:r>
                        <a:rPr lang="en-US" sz="1200" spc="-15">
                          <a:effectLst/>
                        </a:rPr>
                        <a:t> </a:t>
                      </a:r>
                      <a:r>
                        <a:rPr lang="en-US" sz="1200" spc="-25">
                          <a:effectLst/>
                        </a:rPr>
                        <a:t>(2)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3959822029"/>
                  </a:ext>
                </a:extLst>
              </a:tr>
              <a:tr h="323820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Description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Customer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can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change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the </a:t>
                      </a:r>
                      <a:r>
                        <a:rPr lang="en-US" sz="1200" spc="-10">
                          <a:effectLst/>
                        </a:rPr>
                        <a:t>requirements.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333859516"/>
                  </a:ext>
                </a:extLst>
              </a:tr>
              <a:tr h="1061331">
                <a:tc>
                  <a:txBody>
                    <a:bodyPr/>
                    <a:lstStyle/>
                    <a:p>
                      <a:pPr marL="73025" marR="659130" algn="l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Mitigation</a:t>
                      </a:r>
                      <a:r>
                        <a:rPr lang="en-US" sz="1200" spc="-7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and </a:t>
                      </a:r>
                      <a:r>
                        <a:rPr lang="en-US" sz="1200" spc="-10" dirty="0">
                          <a:effectLst/>
                        </a:rPr>
                        <a:t>Monitoring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The</a:t>
                      </a:r>
                      <a:r>
                        <a:rPr lang="en-US" sz="1200" spc="-6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firm</a:t>
                      </a:r>
                      <a:r>
                        <a:rPr lang="en-US" sz="1200" spc="-6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characterizes</a:t>
                      </a:r>
                      <a:r>
                        <a:rPr lang="en-US" sz="1200" spc="-6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needs</a:t>
                      </a:r>
                      <a:r>
                        <a:rPr lang="en-US" sz="1200" spc="-6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in</a:t>
                      </a:r>
                      <a:r>
                        <a:rPr lang="en-US" sz="1200" spc="-5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response</a:t>
                      </a:r>
                      <a:r>
                        <a:rPr lang="en-US" sz="1200" spc="-6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to</a:t>
                      </a:r>
                      <a:r>
                        <a:rPr lang="en-US" sz="1200" spc="-6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deadlines</a:t>
                      </a:r>
                      <a:r>
                        <a:rPr lang="en-US" sz="1200" spc="-6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or</a:t>
                      </a:r>
                      <a:r>
                        <a:rPr lang="en-US" sz="1200" spc="-60" dirty="0">
                          <a:effectLst/>
                        </a:rPr>
                        <a:t> </a:t>
                      </a:r>
                      <a:r>
                        <a:rPr lang="en-US" sz="1200" spc="-10" dirty="0">
                          <a:effectLst/>
                        </a:rPr>
                        <a:t>practical</a:t>
                      </a:r>
                      <a:endParaRPr lang="en-US" sz="1100" dirty="0">
                        <a:effectLst/>
                      </a:endParaRPr>
                    </a:p>
                    <a:p>
                      <a:pPr marL="72390" marR="0" algn="l">
                        <a:lnSpc>
                          <a:spcPts val="205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US" sz="1200" dirty="0">
                          <a:effectLst/>
                        </a:rPr>
                        <a:t>circumstances.</a:t>
                      </a:r>
                      <a:r>
                        <a:rPr lang="en-US" sz="1200" spc="16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There</a:t>
                      </a:r>
                      <a:r>
                        <a:rPr lang="en-US" sz="1200" spc="15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will</a:t>
                      </a:r>
                      <a:r>
                        <a:rPr lang="en-US" sz="1200" spc="16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be</a:t>
                      </a:r>
                      <a:r>
                        <a:rPr lang="en-US" sz="1200" spc="15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regular</a:t>
                      </a:r>
                      <a:r>
                        <a:rPr lang="en-US" sz="1200" spc="15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company</a:t>
                      </a:r>
                      <a:r>
                        <a:rPr lang="en-US" sz="1200" spc="13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meetings.</a:t>
                      </a:r>
                      <a:r>
                        <a:rPr lang="en-US" sz="1200" spc="16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This ensures that the issue is addressed in the finished product.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1282853922"/>
                  </a:ext>
                </a:extLst>
              </a:tr>
              <a:tr h="766529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Management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All</a:t>
                      </a:r>
                      <a:r>
                        <a:rPr lang="en-US" sz="1200" spc="9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parties</a:t>
                      </a:r>
                      <a:r>
                        <a:rPr lang="en-US" sz="1200" spc="9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must</a:t>
                      </a:r>
                      <a:r>
                        <a:rPr lang="en-US" sz="1200" spc="9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meet</a:t>
                      </a:r>
                      <a:r>
                        <a:rPr lang="en-US" sz="1200" spc="9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immediately</a:t>
                      </a:r>
                      <a:r>
                        <a:rPr lang="en-US" sz="1200" spc="7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to</a:t>
                      </a:r>
                      <a:r>
                        <a:rPr lang="en-US" sz="1200" spc="10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discuss</a:t>
                      </a:r>
                      <a:r>
                        <a:rPr lang="en-US" sz="1200" spc="9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the</a:t>
                      </a:r>
                      <a:r>
                        <a:rPr lang="en-US" sz="1200" spc="10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new</a:t>
                      </a:r>
                      <a:r>
                        <a:rPr lang="en-US" sz="1200" spc="90">
                          <a:effectLst/>
                        </a:rPr>
                        <a:t> </a:t>
                      </a:r>
                      <a:r>
                        <a:rPr lang="en-US" sz="1200" spc="-10">
                          <a:effectLst/>
                        </a:rPr>
                        <a:t>project's</a:t>
                      </a:r>
                      <a:endParaRPr lang="en-US" sz="1100">
                        <a:effectLst/>
                      </a:endParaRPr>
                    </a:p>
                    <a:p>
                      <a:pPr marL="72390" marR="0" algn="l">
                        <a:lnSpc>
                          <a:spcPts val="1350"/>
                        </a:lnSpc>
                        <a:spcBef>
                          <a:spcPts val="68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objectives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and</a:t>
                      </a:r>
                      <a:r>
                        <a:rPr lang="en-US" sz="1200" spc="-10">
                          <a:effectLst/>
                        </a:rPr>
                        <a:t> aims.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2468594782"/>
                  </a:ext>
                </a:extLst>
              </a:tr>
              <a:tr h="323820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Status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Not </a:t>
                      </a:r>
                      <a:r>
                        <a:rPr lang="en-US" sz="1200" spc="-10" dirty="0">
                          <a:effectLst/>
                        </a:rPr>
                        <a:t>occur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162087913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xmlns="" id="{824F5C4D-A44F-A85A-C869-EBB04AB00E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19743" y="1038363"/>
            <a:ext cx="609600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Table : Project Risk (P01)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0484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7CF7848-794D-EF71-ED81-6C96EA5B59C8}"/>
              </a:ext>
            </a:extLst>
          </p:cNvPr>
          <p:cNvSpPr txBox="1"/>
          <p:nvPr/>
        </p:nvSpPr>
        <p:spPr>
          <a:xfrm>
            <a:off x="2721429" y="326963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sz="2400" dirty="0">
                <a:latin typeface="Lucida Calligraphy" panose="03010101010101010101" pitchFamily="66" charset="0"/>
              </a:rPr>
              <a:t>Risk Management</a:t>
            </a:r>
            <a:endParaRPr lang="en-US" sz="2400" dirty="0">
              <a:latin typeface="Lucida Calligraphy" panose="03010101010101010101" pitchFamily="66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xmlns="" id="{2687284D-7228-44D4-E13A-CF366706D0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677448"/>
              </p:ext>
            </p:extLst>
          </p:nvPr>
        </p:nvGraphicFramePr>
        <p:xfrm>
          <a:off x="1306286" y="2373086"/>
          <a:ext cx="8523513" cy="3418115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2453164">
                  <a:extLst>
                    <a:ext uri="{9D8B030D-6E8A-4147-A177-3AD203B41FA5}">
                      <a16:colId xmlns:a16="http://schemas.microsoft.com/office/drawing/2014/main" xmlns="" val="1737253259"/>
                    </a:ext>
                  </a:extLst>
                </a:gridCol>
                <a:gridCol w="6070349">
                  <a:extLst>
                    <a:ext uri="{9D8B030D-6E8A-4147-A177-3AD203B41FA5}">
                      <a16:colId xmlns:a16="http://schemas.microsoft.com/office/drawing/2014/main" xmlns="" val="97987347"/>
                    </a:ext>
                  </a:extLst>
                </a:gridCol>
              </a:tblGrid>
              <a:tr h="336518">
                <a:tc gridSpan="2">
                  <a:txBody>
                    <a:bodyPr/>
                    <a:lstStyle/>
                    <a:p>
                      <a:pPr marL="5080" marR="635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Business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Risk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 spc="-20">
                          <a:effectLst/>
                        </a:rPr>
                        <a:t>(B01)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747797885"/>
                  </a:ext>
                </a:extLst>
              </a:tr>
              <a:tr h="332503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20">
                          <a:effectLst/>
                        </a:rPr>
                        <a:t>Name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Insufficient</a:t>
                      </a:r>
                      <a:r>
                        <a:rPr lang="en-US" sz="1200" spc="-15">
                          <a:effectLst/>
                        </a:rPr>
                        <a:t> </a:t>
                      </a:r>
                      <a:r>
                        <a:rPr lang="en-US" sz="1200" spc="-10">
                          <a:effectLst/>
                        </a:rPr>
                        <a:t>Budget.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552082164"/>
                  </a:ext>
                </a:extLst>
              </a:tr>
              <a:tr h="332503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Probability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Low</a:t>
                      </a:r>
                      <a:r>
                        <a:rPr lang="en-US" sz="1200" spc="-10">
                          <a:effectLst/>
                        </a:rPr>
                        <a:t> (10%)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3820122513"/>
                  </a:ext>
                </a:extLst>
              </a:tr>
              <a:tr h="330897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Impact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Marginal</a:t>
                      </a:r>
                      <a:r>
                        <a:rPr lang="en-US" sz="1200" spc="-15">
                          <a:effectLst/>
                        </a:rPr>
                        <a:t> </a:t>
                      </a:r>
                      <a:r>
                        <a:rPr lang="en-US" sz="1200" spc="-25">
                          <a:effectLst/>
                        </a:rPr>
                        <a:t>(2)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1380577645"/>
                  </a:ext>
                </a:extLst>
              </a:tr>
              <a:tr h="332503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Description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A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project may</a:t>
                      </a:r>
                      <a:r>
                        <a:rPr lang="en-US" sz="1200" spc="-3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not be</a:t>
                      </a:r>
                      <a:r>
                        <a:rPr lang="en-US" sz="1200" spc="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finished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if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the budget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is too </a:t>
                      </a:r>
                      <a:r>
                        <a:rPr lang="en-US" sz="1200" spc="-10">
                          <a:effectLst/>
                        </a:rPr>
                        <a:t>little.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4127557747"/>
                  </a:ext>
                </a:extLst>
              </a:tr>
              <a:tr h="1089791">
                <a:tc>
                  <a:txBody>
                    <a:bodyPr/>
                    <a:lstStyle/>
                    <a:p>
                      <a:pPr marL="73025" marR="659130" algn="l">
                        <a:lnSpc>
                          <a:spcPct val="150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Mitigation</a:t>
                      </a:r>
                      <a:r>
                        <a:rPr lang="en-US" sz="1200" spc="-7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and </a:t>
                      </a:r>
                      <a:r>
                        <a:rPr lang="en-US" sz="1200" spc="-10">
                          <a:effectLst/>
                        </a:rPr>
                        <a:t>Monitoring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The</a:t>
                      </a:r>
                      <a:r>
                        <a:rPr lang="en-US" sz="1200" spc="2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project</a:t>
                      </a:r>
                      <a:r>
                        <a:rPr lang="en-US" sz="1200" spc="3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requires</a:t>
                      </a:r>
                      <a:r>
                        <a:rPr lang="en-US" sz="1200" spc="3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the</a:t>
                      </a:r>
                      <a:r>
                        <a:rPr lang="en-US" sz="1200" spc="3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construction</a:t>
                      </a:r>
                      <a:r>
                        <a:rPr lang="en-US" sz="1200" spc="3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of</a:t>
                      </a:r>
                      <a:r>
                        <a:rPr lang="en-US" sz="1200" spc="3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an</a:t>
                      </a:r>
                      <a:r>
                        <a:rPr lang="en-US" sz="1200" spc="3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expensive</a:t>
                      </a:r>
                      <a:r>
                        <a:rPr lang="en-US" sz="1200" spc="40" dirty="0">
                          <a:effectLst/>
                        </a:rPr>
                        <a:t> </a:t>
                      </a:r>
                      <a:r>
                        <a:rPr lang="en-US" sz="1200" spc="-10" dirty="0">
                          <a:effectLst/>
                        </a:rPr>
                        <a:t>streaming</a:t>
                      </a:r>
                      <a:endParaRPr lang="en-US" sz="1100" dirty="0">
                        <a:effectLst/>
                      </a:endParaRPr>
                    </a:p>
                    <a:p>
                      <a:pPr marL="72390" marR="0" algn="l">
                        <a:lnSpc>
                          <a:spcPts val="205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US" sz="1200" dirty="0">
                          <a:effectLst/>
                        </a:rPr>
                        <a:t>server.</a:t>
                      </a:r>
                      <a:r>
                        <a:rPr lang="en-US" sz="1200" spc="20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To</a:t>
                      </a:r>
                      <a:r>
                        <a:rPr lang="en-US" sz="1200" spc="20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decrease</a:t>
                      </a:r>
                      <a:r>
                        <a:rPr lang="en-US" sz="1200" spc="20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the</a:t>
                      </a:r>
                      <a:r>
                        <a:rPr lang="en-US" sz="1200" spc="20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financial</a:t>
                      </a:r>
                      <a:r>
                        <a:rPr lang="en-US" sz="1200" spc="20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risk,</a:t>
                      </a:r>
                      <a:r>
                        <a:rPr lang="en-US" sz="1200" spc="20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we</a:t>
                      </a:r>
                      <a:r>
                        <a:rPr lang="en-US" sz="1200" spc="20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search</a:t>
                      </a:r>
                      <a:r>
                        <a:rPr lang="en-US" sz="1200" spc="20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for</a:t>
                      </a:r>
                      <a:r>
                        <a:rPr lang="en-US" sz="1200" spc="20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several alternative streaming service providers.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1934701787"/>
                  </a:ext>
                </a:extLst>
              </a:tr>
              <a:tr h="330897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Management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Project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aim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clarification.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fresh</a:t>
                      </a:r>
                      <a:r>
                        <a:rPr lang="en-US" sz="1200" spc="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approach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to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budget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 spc="-10">
                          <a:effectLst/>
                        </a:rPr>
                        <a:t>control.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476229257"/>
                  </a:ext>
                </a:extLst>
              </a:tr>
              <a:tr h="332503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Status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Problem</a:t>
                      </a:r>
                      <a:r>
                        <a:rPr lang="en-US" sz="1200" spc="-10" dirty="0">
                          <a:effectLst/>
                        </a:rPr>
                        <a:t> solved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3042726893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xmlns="" id="{E04B416A-D6D3-9781-ACB4-E79155DD20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5529" y="1305931"/>
            <a:ext cx="366375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Table  Business Risk (B01)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9534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xmlns="" id="{B2F81C6D-53DF-9A05-0B3F-E6856C0BDF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0424" y="1128651"/>
            <a:ext cx="333777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Table 5.4 Technical Risk (TR02)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xmlns="" id="{9E683612-A903-2AE8-E07C-241CAC89C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3294825"/>
              </p:ext>
            </p:extLst>
          </p:nvPr>
        </p:nvGraphicFramePr>
        <p:xfrm>
          <a:off x="2085278" y="1940311"/>
          <a:ext cx="7828156" cy="4215159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2253033">
                  <a:extLst>
                    <a:ext uri="{9D8B030D-6E8A-4147-A177-3AD203B41FA5}">
                      <a16:colId xmlns:a16="http://schemas.microsoft.com/office/drawing/2014/main" xmlns="" val="3167510374"/>
                    </a:ext>
                  </a:extLst>
                </a:gridCol>
                <a:gridCol w="5575123">
                  <a:extLst>
                    <a:ext uri="{9D8B030D-6E8A-4147-A177-3AD203B41FA5}">
                      <a16:colId xmlns:a16="http://schemas.microsoft.com/office/drawing/2014/main" xmlns="" val="3868957025"/>
                    </a:ext>
                  </a:extLst>
                </a:gridCol>
              </a:tblGrid>
              <a:tr h="425486">
                <a:tc gridSpan="2">
                  <a:txBody>
                    <a:bodyPr/>
                    <a:lstStyle/>
                    <a:p>
                      <a:pPr marL="5080" marR="1270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Technical</a:t>
                      </a:r>
                      <a:r>
                        <a:rPr lang="en-US" sz="1200" spc="-1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Risk</a:t>
                      </a:r>
                      <a:r>
                        <a:rPr lang="en-US" sz="1200" spc="-10">
                          <a:effectLst/>
                        </a:rPr>
                        <a:t> (TR01)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747188225"/>
                  </a:ext>
                </a:extLst>
              </a:tr>
              <a:tr h="420409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20">
                          <a:effectLst/>
                        </a:rPr>
                        <a:t>Name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235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Computer</a:t>
                      </a:r>
                      <a:r>
                        <a:rPr lang="en-US" sz="1100" spc="-20">
                          <a:effectLst/>
                        </a:rPr>
                        <a:t> Crash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1033639712"/>
                  </a:ext>
                </a:extLst>
              </a:tr>
              <a:tr h="420409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Probability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235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Moderate</a:t>
                      </a:r>
                      <a:r>
                        <a:rPr lang="en-US" sz="1100" spc="-60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(25-</a:t>
                      </a:r>
                      <a:r>
                        <a:rPr lang="en-US" sz="1100" spc="-20">
                          <a:effectLst/>
                        </a:rPr>
                        <a:t>40%)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3681041259"/>
                  </a:ext>
                </a:extLst>
              </a:tr>
              <a:tr h="418378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Impact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235"/>
                        </a:lnSpc>
                        <a:buNone/>
                      </a:pPr>
                      <a:r>
                        <a:rPr lang="en-US" sz="1100" dirty="0">
                          <a:effectLst/>
                        </a:rPr>
                        <a:t>Catastrophic</a:t>
                      </a:r>
                      <a:r>
                        <a:rPr lang="en-US" sz="1100" spc="-35" dirty="0">
                          <a:effectLst/>
                        </a:rPr>
                        <a:t> </a:t>
                      </a:r>
                      <a:r>
                        <a:rPr lang="en-US" sz="1100" spc="-25" dirty="0">
                          <a:effectLst/>
                        </a:rPr>
                        <a:t>(1)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1970797397"/>
                  </a:ext>
                </a:extLst>
              </a:tr>
              <a:tr h="420409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Description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235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Computer</a:t>
                      </a:r>
                      <a:r>
                        <a:rPr lang="en-US" sz="1100" spc="-10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may</a:t>
                      </a:r>
                      <a:r>
                        <a:rPr lang="en-US" sz="1100" spc="-20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crash</a:t>
                      </a:r>
                      <a:r>
                        <a:rPr lang="en-US" sz="1100" spc="-10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due</a:t>
                      </a:r>
                      <a:r>
                        <a:rPr lang="en-US" sz="1100" spc="-20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to</a:t>
                      </a:r>
                      <a:r>
                        <a:rPr lang="en-US" sz="1100" spc="-20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several</a:t>
                      </a:r>
                      <a:r>
                        <a:rPr lang="en-US" sz="1100" spc="-5">
                          <a:effectLst/>
                        </a:rPr>
                        <a:t> </a:t>
                      </a:r>
                      <a:r>
                        <a:rPr lang="en-US" sz="1100" spc="-10">
                          <a:effectLst/>
                        </a:rPr>
                        <a:t>reasons.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4275462835"/>
                  </a:ext>
                </a:extLst>
              </a:tr>
              <a:tr h="1269250">
                <a:tc>
                  <a:txBody>
                    <a:bodyPr/>
                    <a:lstStyle/>
                    <a:p>
                      <a:pPr marL="73025" marR="659130" algn="l">
                        <a:lnSpc>
                          <a:spcPct val="150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Mitigation</a:t>
                      </a:r>
                      <a:r>
                        <a:rPr lang="en-US" sz="1200" spc="-7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and </a:t>
                      </a:r>
                      <a:r>
                        <a:rPr lang="en-US" sz="1200" spc="-10">
                          <a:effectLst/>
                        </a:rPr>
                        <a:t>Monitoring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235"/>
                        </a:lnSpc>
                        <a:buNone/>
                      </a:pPr>
                      <a:r>
                        <a:rPr lang="en-US" sz="1100" dirty="0">
                          <a:effectLst/>
                        </a:rPr>
                        <a:t>Computers</a:t>
                      </a:r>
                      <a:r>
                        <a:rPr lang="en-US" sz="1100" spc="325" dirty="0">
                          <a:effectLst/>
                        </a:rPr>
                        <a:t> </a:t>
                      </a:r>
                      <a:r>
                        <a:rPr lang="en-US" sz="1100" dirty="0">
                          <a:effectLst/>
                        </a:rPr>
                        <a:t>must</a:t>
                      </a:r>
                      <a:r>
                        <a:rPr lang="en-US" sz="1100" spc="320" dirty="0">
                          <a:effectLst/>
                        </a:rPr>
                        <a:t> </a:t>
                      </a:r>
                      <a:r>
                        <a:rPr lang="en-US" sz="1100" dirty="0">
                          <a:effectLst/>
                        </a:rPr>
                        <a:t>be</a:t>
                      </a:r>
                      <a:r>
                        <a:rPr lang="en-US" sz="1100" spc="315" dirty="0">
                          <a:effectLst/>
                        </a:rPr>
                        <a:t> </a:t>
                      </a:r>
                      <a:r>
                        <a:rPr lang="en-US" sz="1100" dirty="0">
                          <a:effectLst/>
                        </a:rPr>
                        <a:t>adequately</a:t>
                      </a:r>
                      <a:r>
                        <a:rPr lang="en-US" sz="1100" spc="310" dirty="0">
                          <a:effectLst/>
                        </a:rPr>
                        <a:t> </a:t>
                      </a:r>
                      <a:r>
                        <a:rPr lang="en-US" sz="1100" dirty="0">
                          <a:effectLst/>
                        </a:rPr>
                        <a:t>monitored.</a:t>
                      </a:r>
                      <a:r>
                        <a:rPr lang="en-US" sz="1100" spc="315" dirty="0">
                          <a:effectLst/>
                        </a:rPr>
                        <a:t> </a:t>
                      </a:r>
                      <a:r>
                        <a:rPr lang="en-US" sz="1100" dirty="0">
                          <a:effectLst/>
                        </a:rPr>
                        <a:t>In</a:t>
                      </a:r>
                      <a:r>
                        <a:rPr lang="en-US" sz="1100" spc="325" dirty="0">
                          <a:effectLst/>
                        </a:rPr>
                        <a:t> </a:t>
                      </a:r>
                      <a:r>
                        <a:rPr lang="en-US" sz="1100" dirty="0">
                          <a:effectLst/>
                        </a:rPr>
                        <a:t>reality,</a:t>
                      </a:r>
                      <a:r>
                        <a:rPr lang="en-US" sz="1100" spc="325" dirty="0">
                          <a:effectLst/>
                        </a:rPr>
                        <a:t> </a:t>
                      </a:r>
                      <a:r>
                        <a:rPr lang="en-US" sz="1100" dirty="0">
                          <a:effectLst/>
                        </a:rPr>
                        <a:t>to</a:t>
                      </a:r>
                      <a:r>
                        <a:rPr lang="en-US" sz="1100" spc="315" dirty="0">
                          <a:effectLst/>
                        </a:rPr>
                        <a:t> </a:t>
                      </a:r>
                      <a:r>
                        <a:rPr lang="en-US" sz="1100" spc="-10" dirty="0">
                          <a:effectLst/>
                        </a:rPr>
                        <a:t>avoid</a:t>
                      </a:r>
                      <a:endParaRPr lang="en-US" sz="1100" dirty="0">
                        <a:effectLst/>
                      </a:endParaRPr>
                    </a:p>
                    <a:p>
                      <a:pPr marL="72390" marR="0" algn="l">
                        <a:lnSpc>
                          <a:spcPts val="1900"/>
                        </a:lnSpc>
                        <a:buNone/>
                      </a:pPr>
                      <a:r>
                        <a:rPr lang="en-US" sz="1100" dirty="0">
                          <a:effectLst/>
                        </a:rPr>
                        <a:t>unintentional shutdowns, we regularly backup our data and have an</a:t>
                      </a:r>
                      <a:r>
                        <a:rPr lang="en-US" sz="1100" spc="200" dirty="0">
                          <a:effectLst/>
                        </a:rPr>
                        <a:t> </a:t>
                      </a:r>
                      <a:r>
                        <a:rPr lang="en-US" sz="1100" dirty="0">
                          <a:effectLst/>
                        </a:rPr>
                        <a:t>intrusion detection system in place.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3206008240"/>
                  </a:ext>
                </a:extLst>
              </a:tr>
              <a:tr h="420409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65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Management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245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If</a:t>
                      </a:r>
                      <a:r>
                        <a:rPr lang="en-US" sz="1100" spc="-20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our</a:t>
                      </a:r>
                      <a:r>
                        <a:rPr lang="en-US" sz="1100" spc="-15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computer</a:t>
                      </a:r>
                      <a:r>
                        <a:rPr lang="en-US" sz="1100" spc="-15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crashes,</a:t>
                      </a:r>
                      <a:r>
                        <a:rPr lang="en-US" sz="1100" spc="-15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we'll</a:t>
                      </a:r>
                      <a:r>
                        <a:rPr lang="en-US" sz="1100" spc="-15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restore</a:t>
                      </a:r>
                      <a:r>
                        <a:rPr lang="en-US" sz="1100" spc="-25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the</a:t>
                      </a:r>
                      <a:r>
                        <a:rPr lang="en-US" sz="1100" spc="-25">
                          <a:effectLst/>
                        </a:rPr>
                        <a:t> </a:t>
                      </a:r>
                      <a:r>
                        <a:rPr lang="en-US" sz="1100" spc="-10">
                          <a:effectLst/>
                        </a:rPr>
                        <a:t>backup.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1001299941"/>
                  </a:ext>
                </a:extLst>
              </a:tr>
              <a:tr h="420409">
                <a:tc>
                  <a:txBody>
                    <a:bodyPr/>
                    <a:lstStyle/>
                    <a:p>
                      <a:pPr marL="73025" marR="0" algn="l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Status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2390" marR="0" algn="l">
                        <a:lnSpc>
                          <a:spcPts val="1235"/>
                        </a:lnSpc>
                        <a:buNone/>
                      </a:pPr>
                      <a:r>
                        <a:rPr lang="en-US" sz="1100" spc="-10" dirty="0">
                          <a:effectLst/>
                        </a:rPr>
                        <a:t>Managed.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1698381309"/>
                  </a:ext>
                </a:extLst>
              </a:tr>
            </a:tbl>
          </a:graphicData>
        </a:graphic>
      </p:graphicFrame>
      <p:sp>
        <p:nvSpPr>
          <p:cNvPr id="5" name="Rectangle 2">
            <a:extLst>
              <a:ext uri="{FF2B5EF4-FFF2-40B4-BE49-F238E27FC236}">
                <a16:creationId xmlns:a16="http://schemas.microsoft.com/office/drawing/2014/main" xmlns="" id="{D0CA8591-2361-731D-3DEC-F8513C2B9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1838" y="257492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51805E1E-F4FE-C915-F23F-DBE0AAF636C5}"/>
              </a:ext>
            </a:extLst>
          </p:cNvPr>
          <p:cNvSpPr txBox="1"/>
          <p:nvPr/>
        </p:nvSpPr>
        <p:spPr>
          <a:xfrm>
            <a:off x="2085278" y="257346"/>
            <a:ext cx="7734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sz="1800" dirty="0">
                <a:latin typeface="Lucida Calligraphy" panose="03010101010101010101" pitchFamily="66" charset="0"/>
              </a:rPr>
              <a:t>Risk Management</a:t>
            </a:r>
            <a:endParaRPr lang="en-US" sz="1800" dirty="0">
              <a:latin typeface="Lucida Calligraphy" panose="03010101010101010101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9691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5E57925-1ACF-D233-2579-48DEC904A1EA}"/>
              </a:ext>
            </a:extLst>
          </p:cNvPr>
          <p:cNvSpPr txBox="1"/>
          <p:nvPr/>
        </p:nvSpPr>
        <p:spPr>
          <a:xfrm>
            <a:off x="3396343" y="2025134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8000" dirty="0">
                <a:solidFill>
                  <a:schemeClr val="accent1">
                    <a:lumMod val="60000"/>
                    <a:lumOff val="40000"/>
                  </a:schemeClr>
                </a:solidFill>
                <a:latin typeface="Lucida Calligraphy" panose="03010101010101010101" pitchFamily="66" charset="0"/>
              </a:rPr>
              <a:t>Diagram</a:t>
            </a:r>
            <a:endParaRPr lang="en-US" sz="8000" dirty="0">
              <a:solidFill>
                <a:schemeClr val="accent1">
                  <a:lumMod val="60000"/>
                  <a:lumOff val="40000"/>
                </a:schemeClr>
              </a:solidFill>
              <a:latin typeface="Lucida Calligraphy" panose="03010101010101010101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01757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62E5D7D-D9CC-E1B7-2006-A895B31E5B0C}"/>
              </a:ext>
            </a:extLst>
          </p:cNvPr>
          <p:cNvSpPr txBox="1"/>
          <p:nvPr/>
        </p:nvSpPr>
        <p:spPr>
          <a:xfrm>
            <a:off x="0" y="222864"/>
            <a:ext cx="113864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800" dirty="0">
                <a:latin typeface="Lucida Calligraphy" panose="03010101010101010101" pitchFamily="66" charset="0"/>
              </a:rPr>
              <a:t>Activity Diagram </a:t>
            </a:r>
            <a:endParaRPr lang="en-US" sz="2800" dirty="0">
              <a:latin typeface="Lucida Calligraphy" panose="03010101010101010101" pitchFamily="66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F39A9B4C-AF2A-4C5F-9993-BC46CE814C92}"/>
              </a:ext>
            </a:extLst>
          </p:cNvPr>
          <p:cNvSpPr txBox="1"/>
          <p:nvPr/>
        </p:nvSpPr>
        <p:spPr>
          <a:xfrm>
            <a:off x="3581400" y="6368143"/>
            <a:ext cx="4637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dirty="0">
                <a:solidFill>
                  <a:schemeClr val="bg1"/>
                </a:solidFill>
              </a:rPr>
              <a:t>Fig-Activity Diagram </a:t>
            </a:r>
            <a:r>
              <a:rPr lang="en" dirty="0" smtClean="0">
                <a:solidFill>
                  <a:schemeClr val="bg1"/>
                </a:solidFill>
              </a:rPr>
              <a:t>of User</a:t>
            </a: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1474573" y="746085"/>
            <a:ext cx="8666205" cy="5424056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581400" y="746084"/>
            <a:ext cx="1120140" cy="435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3882390" y="815340"/>
            <a:ext cx="419100" cy="36576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404610" y="5730240"/>
            <a:ext cx="240030" cy="28194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C22D4F56-4E4B-8E6D-2AF8-C396D95A0F2F}"/>
              </a:ext>
            </a:extLst>
          </p:cNvPr>
          <p:cNvSpPr txBox="1"/>
          <p:nvPr/>
        </p:nvSpPr>
        <p:spPr>
          <a:xfrm>
            <a:off x="544286" y="206829"/>
            <a:ext cx="114953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400" b="1" dirty="0">
                <a:latin typeface="Lucida Calligraphy" panose="03010101010101010101" pitchFamily="66" charset="0"/>
              </a:rPr>
              <a:t>Activity Diagram </a:t>
            </a:r>
            <a:endParaRPr lang="en-US" sz="2400" b="1" dirty="0">
              <a:latin typeface="Lucida Calligraphy" panose="03010101010101010101" pitchFamily="66" charset="0"/>
            </a:endParaRP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244E454C-CC76-34ED-60C1-C5B29514A916}"/>
              </a:ext>
            </a:extLst>
          </p:cNvPr>
          <p:cNvSpPr txBox="1"/>
          <p:nvPr/>
        </p:nvSpPr>
        <p:spPr>
          <a:xfrm>
            <a:off x="3118757" y="640045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Fig- Activity Diagram of </a:t>
            </a:r>
            <a:r>
              <a:rPr lang="en-US" dirty="0" smtClean="0">
                <a:solidFill>
                  <a:schemeClr val="bg1"/>
                </a:solidFill>
              </a:rPr>
              <a:t>Vendor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013254" y="1005633"/>
            <a:ext cx="9662984" cy="5115697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4886324" y="5707380"/>
            <a:ext cx="264795" cy="231094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4541520" y="1082040"/>
            <a:ext cx="1021080" cy="2971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809171" y="1047750"/>
            <a:ext cx="419100" cy="36576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488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C22D4F56-4E4B-8E6D-2AF8-C396D95A0F2F}"/>
              </a:ext>
            </a:extLst>
          </p:cNvPr>
          <p:cNvSpPr txBox="1"/>
          <p:nvPr/>
        </p:nvSpPr>
        <p:spPr>
          <a:xfrm>
            <a:off x="544286" y="206829"/>
            <a:ext cx="114953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400" b="1" dirty="0">
                <a:latin typeface="Lucida Calligraphy" panose="03010101010101010101" pitchFamily="66" charset="0"/>
              </a:rPr>
              <a:t>Activity Diagram </a:t>
            </a:r>
            <a:endParaRPr lang="en-US" sz="2400" b="1" dirty="0">
              <a:latin typeface="Lucida Calligraphy" panose="03010101010101010101" pitchFamily="66" charset="0"/>
            </a:endParaRP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244E454C-CC76-34ED-60C1-C5B29514A916}"/>
              </a:ext>
            </a:extLst>
          </p:cNvPr>
          <p:cNvSpPr txBox="1"/>
          <p:nvPr/>
        </p:nvSpPr>
        <p:spPr>
          <a:xfrm>
            <a:off x="3118757" y="640045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Fig- Activity Diagram of </a:t>
            </a:r>
            <a:r>
              <a:rPr lang="en-US" dirty="0" smtClean="0">
                <a:solidFill>
                  <a:schemeClr val="bg1"/>
                </a:solidFill>
              </a:rPr>
              <a:t>Super Admin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394" y="1005633"/>
            <a:ext cx="9662984" cy="5115697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4922520" y="1013253"/>
            <a:ext cx="784860" cy="3354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105400" y="998220"/>
            <a:ext cx="419100" cy="36576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379720" y="5676900"/>
            <a:ext cx="236220" cy="18288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3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C22D4F56-4E4B-8E6D-2AF8-C396D95A0F2F}"/>
              </a:ext>
            </a:extLst>
          </p:cNvPr>
          <p:cNvSpPr txBox="1"/>
          <p:nvPr/>
        </p:nvSpPr>
        <p:spPr>
          <a:xfrm>
            <a:off x="544286" y="206829"/>
            <a:ext cx="114953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400" b="1" dirty="0">
                <a:latin typeface="Lucida Calligraphy" panose="03010101010101010101" pitchFamily="66" charset="0"/>
              </a:rPr>
              <a:t>Activity Diagram </a:t>
            </a:r>
            <a:endParaRPr lang="en-US" sz="2400" b="1" dirty="0">
              <a:latin typeface="Lucida Calligraphy" panose="03010101010101010101" pitchFamily="66" charset="0"/>
            </a:endParaRP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244E454C-CC76-34ED-60C1-C5B29514A916}"/>
              </a:ext>
            </a:extLst>
          </p:cNvPr>
          <p:cNvSpPr txBox="1"/>
          <p:nvPr/>
        </p:nvSpPr>
        <p:spPr>
          <a:xfrm>
            <a:off x="3118757" y="640045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Fig- Activity Diagram of </a:t>
            </a:r>
            <a:r>
              <a:rPr lang="en-US" dirty="0" smtClean="0">
                <a:solidFill>
                  <a:schemeClr val="bg1"/>
                </a:solidFill>
              </a:rPr>
              <a:t>System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013254" y="650789"/>
            <a:ext cx="9662984" cy="5478161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3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B1501056-890C-9743-F571-1A2C88CC8FC0}"/>
              </a:ext>
            </a:extLst>
          </p:cNvPr>
          <p:cNvSpPr txBox="1"/>
          <p:nvPr/>
        </p:nvSpPr>
        <p:spPr>
          <a:xfrm>
            <a:off x="2449286" y="108858"/>
            <a:ext cx="75764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Lucida Calligraphy" panose="03010101010101010101" pitchFamily="66" charset="0"/>
              </a:rPr>
              <a:t>ERD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3B8FDBDA-2F73-5EC9-99BA-71E5FA865752}"/>
              </a:ext>
            </a:extLst>
          </p:cNvPr>
          <p:cNvSpPr txBox="1"/>
          <p:nvPr/>
        </p:nvSpPr>
        <p:spPr>
          <a:xfrm>
            <a:off x="3559629" y="6357257"/>
            <a:ext cx="4506685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dirty="0" smtClean="0"/>
              <a:t>Fig : ERD diagram</a:t>
            </a: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1054444" y="716692"/>
            <a:ext cx="10041924" cy="551935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6201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7E82F772-8DD4-9893-97BD-8E75ACE1FECE}"/>
              </a:ext>
            </a:extLst>
          </p:cNvPr>
          <p:cNvSpPr txBox="1"/>
          <p:nvPr/>
        </p:nvSpPr>
        <p:spPr>
          <a:xfrm>
            <a:off x="718457" y="153181"/>
            <a:ext cx="10504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b="1" dirty="0">
                <a:latin typeface="Lucida Calligraphy" panose="03010101010101010101" pitchFamily="66" charset="0"/>
              </a:rPr>
              <a:t>Data Flow Diagram</a:t>
            </a:r>
            <a:endParaRPr lang="en-US" dirty="0">
              <a:latin typeface="Lucida Calligraphy" panose="03010101010101010101" pitchFamily="66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BDDAFF39-1B1E-2010-218B-83E4A7BCB913}"/>
              </a:ext>
            </a:extLst>
          </p:cNvPr>
          <p:cNvSpPr txBox="1"/>
          <p:nvPr/>
        </p:nvSpPr>
        <p:spPr>
          <a:xfrm>
            <a:off x="3831771" y="6335486"/>
            <a:ext cx="42780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</a:rPr>
              <a:t>Figure: Context Level DFD</a:t>
            </a:r>
            <a:endParaRPr lang="en-US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1136822" y="1013254"/>
            <a:ext cx="9531178" cy="4695568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62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BB4478EA-2A97-BE62-327C-6B52A5614F1A}"/>
              </a:ext>
            </a:extLst>
          </p:cNvPr>
          <p:cNvSpPr txBox="1"/>
          <p:nvPr/>
        </p:nvSpPr>
        <p:spPr>
          <a:xfrm>
            <a:off x="1447800" y="228600"/>
            <a:ext cx="8937171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b="1" dirty="0">
                <a:latin typeface="Lucida Calligraphy" panose="03010101010101010101" pitchFamily="66" charset="0"/>
              </a:rPr>
              <a:t>Data Flow Diagram</a:t>
            </a:r>
            <a:endParaRPr lang="en-US" sz="2000" dirty="0">
              <a:latin typeface="Lucida Calligraphy" panose="03010101010101010101" pitchFamily="66" charset="0"/>
            </a:endParaRP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FA6ACC46-F279-66AA-1AF8-037D92F06068}"/>
              </a:ext>
            </a:extLst>
          </p:cNvPr>
          <p:cNvSpPr txBox="1"/>
          <p:nvPr/>
        </p:nvSpPr>
        <p:spPr>
          <a:xfrm>
            <a:off x="3048000" y="6260090"/>
            <a:ext cx="6096000" cy="458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628650" algn="l"/>
                <a:tab pos="5486400" algn="r"/>
              </a:tabLst>
            </a:pPr>
            <a:r>
              <a:rPr lang="en-US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</a:rPr>
              <a:t>Figure: Level 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</a:rPr>
              <a:t>1</a:t>
            </a:r>
            <a:r>
              <a:rPr lang="en-US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</a:rPr>
              <a:t> DFD 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186248" y="774357"/>
            <a:ext cx="9819503" cy="5231027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2095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3EDD132-D173-5A1D-3144-7B4053E7573D}"/>
              </a:ext>
            </a:extLst>
          </p:cNvPr>
          <p:cNvSpPr txBox="1"/>
          <p:nvPr/>
        </p:nvSpPr>
        <p:spPr>
          <a:xfrm>
            <a:off x="1600200" y="177995"/>
            <a:ext cx="8686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b="1" dirty="0">
                <a:latin typeface="Lucida Calligraphy" panose="03010101010101010101" pitchFamily="66" charset="0"/>
              </a:rPr>
              <a:t>Data Flow Diagram</a:t>
            </a:r>
            <a:endParaRPr lang="en-US" dirty="0">
              <a:latin typeface="Lucida Calligraphy" panose="03010101010101010101" pitchFamily="66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61EC182B-618A-1FE9-2788-536AB3613E49}"/>
              </a:ext>
            </a:extLst>
          </p:cNvPr>
          <p:cNvSpPr txBox="1"/>
          <p:nvPr/>
        </p:nvSpPr>
        <p:spPr>
          <a:xfrm>
            <a:off x="3026229" y="6291069"/>
            <a:ext cx="6096000" cy="458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628650" algn="l"/>
                <a:tab pos="5486400" algn="r"/>
              </a:tabLst>
            </a:pPr>
            <a:r>
              <a:rPr lang="en-US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</a:rPr>
              <a:t>Figure: Level 2 DFD process 1(Login/out)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227438" y="1128584"/>
            <a:ext cx="9127524" cy="4926227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339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4A7DF0A-9575-E7CF-2773-FA2DCB500E62}"/>
              </a:ext>
            </a:extLst>
          </p:cNvPr>
          <p:cNvSpPr txBox="1"/>
          <p:nvPr/>
        </p:nvSpPr>
        <p:spPr>
          <a:xfrm>
            <a:off x="2558143" y="0"/>
            <a:ext cx="6683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b="1" dirty="0">
                <a:latin typeface="Lucida Calligraphy" panose="03010101010101010101" pitchFamily="66" charset="0"/>
              </a:rPr>
              <a:t>Data Flow Diagram</a:t>
            </a:r>
            <a:endParaRPr lang="en-US" dirty="0">
              <a:latin typeface="Lucida Calligraphy" panose="03010101010101010101" pitchFamily="66" charset="0"/>
            </a:endParaRP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20B1BD2-271B-7CA4-D83A-6538D0FC8E1B}"/>
              </a:ext>
            </a:extLst>
          </p:cNvPr>
          <p:cNvSpPr txBox="1"/>
          <p:nvPr/>
        </p:nvSpPr>
        <p:spPr>
          <a:xfrm>
            <a:off x="3048000" y="6242520"/>
            <a:ext cx="60960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628650" algn="l"/>
                <a:tab pos="5486400" algn="r"/>
              </a:tabLst>
            </a:pPr>
            <a:r>
              <a:rPr lang="en-US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</a:rPr>
              <a:t>Figure: Level 2 DFD </a:t>
            </a:r>
            <a:r>
              <a:rPr lang="en-US" sz="1800" dirty="0" smtClean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</a:rPr>
              <a:t>process 2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194486" y="646330"/>
            <a:ext cx="9267568" cy="5424955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211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41EBED80-296F-9A26-5F2A-C1CBB938FE23}"/>
              </a:ext>
            </a:extLst>
          </p:cNvPr>
          <p:cNvSpPr txBox="1"/>
          <p:nvPr/>
        </p:nvSpPr>
        <p:spPr>
          <a:xfrm>
            <a:off x="2579914" y="0"/>
            <a:ext cx="6466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b="1" dirty="0">
                <a:latin typeface="Lucida Calligraphy" panose="03010101010101010101" pitchFamily="66" charset="0"/>
              </a:rPr>
              <a:t>Data Flow Diagram</a:t>
            </a:r>
            <a:endParaRPr lang="en-US" dirty="0">
              <a:latin typeface="Lucida Calligraphy" panose="03010101010101010101" pitchFamily="66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D90457DB-CBF3-61EE-22A5-88F8F3EFA6A6}"/>
              </a:ext>
            </a:extLst>
          </p:cNvPr>
          <p:cNvSpPr txBox="1"/>
          <p:nvPr/>
        </p:nvSpPr>
        <p:spPr>
          <a:xfrm>
            <a:off x="3048000" y="6259631"/>
            <a:ext cx="60960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628650" algn="l"/>
                <a:tab pos="5486400" algn="r"/>
              </a:tabLst>
            </a:pPr>
            <a:r>
              <a:rPr lang="en-US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</a:rPr>
              <a:t>Figure: Level 2 DFD process </a:t>
            </a:r>
            <a:r>
              <a:rPr lang="en-US" sz="1800" dirty="0" smtClean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</a:rPr>
              <a:t>3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194486" y="873211"/>
            <a:ext cx="9572368" cy="5231027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6945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43CEC2E8-FF06-F6E3-016C-D51FC5F35E83}"/>
              </a:ext>
            </a:extLst>
          </p:cNvPr>
          <p:cNvSpPr txBox="1"/>
          <p:nvPr/>
        </p:nvSpPr>
        <p:spPr>
          <a:xfrm>
            <a:off x="4005943" y="1644134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9600" dirty="0">
                <a:solidFill>
                  <a:schemeClr val="accent1">
                    <a:lumMod val="60000"/>
                    <a:lumOff val="40000"/>
                  </a:schemeClr>
                </a:solidFill>
                <a:latin typeface="Lucida Calligraphy" panose="03010101010101010101" pitchFamily="66" charset="0"/>
              </a:rPr>
              <a:t>Testing</a:t>
            </a:r>
            <a:endParaRPr lang="en-US" sz="9600" dirty="0">
              <a:solidFill>
                <a:schemeClr val="accent1">
                  <a:lumMod val="60000"/>
                  <a:lumOff val="40000"/>
                </a:schemeClr>
              </a:solidFill>
              <a:latin typeface="Lucida Calligraphy" panose="03010101010101010101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05789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B9BDAC73-68A0-773A-7C75-740F9F590A93}"/>
              </a:ext>
            </a:extLst>
          </p:cNvPr>
          <p:cNvSpPr txBox="1"/>
          <p:nvPr/>
        </p:nvSpPr>
        <p:spPr>
          <a:xfrm>
            <a:off x="2188029" y="152400"/>
            <a:ext cx="66185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Lucida Calligraphy" panose="03010101010101010101" pitchFamily="66" charset="0"/>
                <a:ea typeface="Times New Roman"/>
                <a:cs typeface="Times New Roman" panose="02020603050405020304" pitchFamily="18" charset="0"/>
                <a:sym typeface="Times New Roman"/>
              </a:rPr>
              <a:t>System Testing</a:t>
            </a:r>
            <a:endParaRPr lang="en-US" sz="2800" dirty="0">
              <a:latin typeface="Lucida Calligraphy" panose="03010101010101010101" pitchFamily="66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D4BD260-3884-FE96-C698-EFDB6BEB8A70}"/>
              </a:ext>
            </a:extLst>
          </p:cNvPr>
          <p:cNvSpPr txBox="1"/>
          <p:nvPr/>
        </p:nvSpPr>
        <p:spPr>
          <a:xfrm>
            <a:off x="1513114" y="1055915"/>
            <a:ext cx="763088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Various verification scenarios were conducted to check that the software performs as required, incorporating both </a:t>
            </a:r>
          </a:p>
          <a:p>
            <a:endParaRPr lang="en-US" sz="2000" b="1" dirty="0"/>
          </a:p>
          <a:p>
            <a:endParaRPr lang="en-US" sz="2000" b="1" dirty="0"/>
          </a:p>
          <a:p>
            <a:endParaRPr lang="en-US" sz="20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dirty="0"/>
              <a:t>black-box</a:t>
            </a:r>
            <a:r>
              <a:rPr lang="en-US" sz="2000" dirty="0"/>
              <a:t> and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/>
              <a:t> </a:t>
            </a:r>
            <a:r>
              <a:rPr lang="en-US" sz="2000" b="1" dirty="0"/>
              <a:t>white-box</a:t>
            </a:r>
            <a:r>
              <a:rPr lang="en-US" sz="2000" dirty="0"/>
              <a:t> testing.</a:t>
            </a:r>
          </a:p>
        </p:txBody>
      </p:sp>
    </p:spTree>
    <p:extLst>
      <p:ext uri="{BB962C8B-B14F-4D97-AF65-F5344CB8AC3E}">
        <p14:creationId xmlns:p14="http://schemas.microsoft.com/office/powerpoint/2010/main" val="39452977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48A2C7A-058B-DD12-92D4-C7F7586C6780}"/>
              </a:ext>
            </a:extLst>
          </p:cNvPr>
          <p:cNvSpPr txBox="1"/>
          <p:nvPr/>
        </p:nvSpPr>
        <p:spPr>
          <a:xfrm>
            <a:off x="4223657" y="2616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strike="noStrike" cap="all" spc="180" dirty="0">
                <a:solidFill>
                  <a:schemeClr val="dk1"/>
                </a:solidFill>
                <a:latin typeface="Lucida Calligraphy" panose="03010101010101010101" pitchFamily="66" charset="0"/>
                <a:ea typeface="DejaVu Sans"/>
              </a:rPr>
              <a:t>Black box testing</a:t>
            </a:r>
            <a:endParaRPr lang="en-US" dirty="0">
              <a:latin typeface="Lucida Calligraphy" panose="03010101010101010101" pitchFamily="66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E3A6DCFB-E925-7A88-F8BF-98839A962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5007" y="3886200"/>
            <a:ext cx="4305300" cy="213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66FF74F2-B8AA-C5D6-F8FB-A26DDE5635B5}"/>
              </a:ext>
            </a:extLst>
          </p:cNvPr>
          <p:cNvSpPr txBox="1"/>
          <p:nvPr/>
        </p:nvSpPr>
        <p:spPr>
          <a:xfrm>
            <a:off x="2699657" y="1402807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Black box testing is a software testing method where the tester does not check the internal code or structure of the system. It mainly focuses on providing inputs and observing the outputs of the software.</a:t>
            </a:r>
          </a:p>
        </p:txBody>
      </p:sp>
    </p:spTree>
    <p:extLst>
      <p:ext uri="{BB962C8B-B14F-4D97-AF65-F5344CB8AC3E}">
        <p14:creationId xmlns:p14="http://schemas.microsoft.com/office/powerpoint/2010/main" val="2844174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6F6382A-5A22-B7BD-072B-C994A0C85C02}"/>
              </a:ext>
            </a:extLst>
          </p:cNvPr>
          <p:cNvSpPr txBox="1"/>
          <p:nvPr/>
        </p:nvSpPr>
        <p:spPr>
          <a:xfrm>
            <a:off x="4234543" y="32696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cap="all" spc="180" dirty="0">
                <a:solidFill>
                  <a:schemeClr val="dk1"/>
                </a:solidFill>
                <a:latin typeface="Lucida Calligraphy" panose="03010101010101010101" pitchFamily="66" charset="0"/>
                <a:ea typeface="DejaVu Sans"/>
              </a:rPr>
              <a:t>white</a:t>
            </a:r>
            <a:r>
              <a:rPr lang="en-US" sz="1800" b="1" strike="noStrike" cap="all" spc="180" dirty="0">
                <a:solidFill>
                  <a:schemeClr val="dk1"/>
                </a:solidFill>
                <a:latin typeface="Lucida Calligraphy" panose="03010101010101010101" pitchFamily="66" charset="0"/>
                <a:ea typeface="DejaVu Sans"/>
              </a:rPr>
              <a:t> box testing</a:t>
            </a:r>
            <a:endParaRPr lang="en-US" dirty="0">
              <a:latin typeface="Lucida Calligraphy" panose="03010101010101010101" pitchFamily="66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30AC3359-F6ED-787D-2371-686D8FF83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191" y="4020910"/>
            <a:ext cx="3665220" cy="18859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280C387F-182E-4F98-E00A-5F5727285205}"/>
              </a:ext>
            </a:extLst>
          </p:cNvPr>
          <p:cNvSpPr txBox="1"/>
          <p:nvPr/>
        </p:nvSpPr>
        <p:spPr>
          <a:xfrm>
            <a:off x="2090057" y="1288597"/>
            <a:ext cx="6858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White box testing is a testing method where the tester examines the internal structure, logic, and source code of the software. In this approach, the tester has full access to the code.</a:t>
            </a:r>
          </a:p>
          <a:p>
            <a:pPr>
              <a:buNone/>
            </a:pPr>
            <a:r>
              <a:rPr lang="en-US" dirty="0"/>
              <a:t>It includes: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Unit Testing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Integration Testing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Database Testing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6590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1136E035-7F28-6DFB-D997-18ADAAF33496}"/>
              </a:ext>
            </a:extLst>
          </p:cNvPr>
          <p:cNvSpPr txBox="1"/>
          <p:nvPr/>
        </p:nvSpPr>
        <p:spPr>
          <a:xfrm>
            <a:off x="2264229" y="141514"/>
            <a:ext cx="81969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cap="all" spc="180" dirty="0">
                <a:solidFill>
                  <a:schemeClr val="dk1"/>
                </a:solidFill>
                <a:latin typeface="Lucida Calligraphy" panose="03010101010101010101" pitchFamily="66" charset="0"/>
                <a:ea typeface="DejaVu Sans"/>
              </a:rPr>
              <a:t>TESTING Scenario</a:t>
            </a:r>
            <a:endParaRPr lang="en-US" sz="2400" dirty="0">
              <a:latin typeface="Lucida Calligraphy" panose="03010101010101010101" pitchFamily="66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xmlns="" id="{A36204D2-F897-E005-CC08-9ABB3FD443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132393"/>
              </p:ext>
            </p:extLst>
          </p:nvPr>
        </p:nvGraphicFramePr>
        <p:xfrm>
          <a:off x="2449286" y="1262742"/>
          <a:ext cx="8011885" cy="4604658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2027917">
                  <a:extLst>
                    <a:ext uri="{9D8B030D-6E8A-4147-A177-3AD203B41FA5}">
                      <a16:colId xmlns:a16="http://schemas.microsoft.com/office/drawing/2014/main" xmlns="" val="1976033991"/>
                    </a:ext>
                  </a:extLst>
                </a:gridCol>
                <a:gridCol w="5983968">
                  <a:extLst>
                    <a:ext uri="{9D8B030D-6E8A-4147-A177-3AD203B41FA5}">
                      <a16:colId xmlns:a16="http://schemas.microsoft.com/office/drawing/2014/main" xmlns="" val="4002312779"/>
                    </a:ext>
                  </a:extLst>
                </a:gridCol>
              </a:tblGrid>
              <a:tr h="397649">
                <a:tc>
                  <a:txBody>
                    <a:bodyPr/>
                    <a:lstStyle/>
                    <a:p>
                      <a:pPr marL="635" marR="1270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 spc="-10" dirty="0">
                          <a:solidFill>
                            <a:schemeClr val="tx1"/>
                          </a:solidFill>
                          <a:effectLst/>
                        </a:rPr>
                        <a:t>Scenario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11125" marR="109220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Admin,</a:t>
                      </a:r>
                      <a:r>
                        <a:rPr lang="en-US" sz="1200" spc="-2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User,</a:t>
                      </a:r>
                      <a:r>
                        <a:rPr lang="en-US" sz="1200" spc="-1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 err="1" smtClean="0">
                          <a:solidFill>
                            <a:schemeClr val="tx1"/>
                          </a:solidFill>
                          <a:effectLst/>
                        </a:rPr>
                        <a:t>VendorLogin</a:t>
                      </a:r>
                      <a:r>
                        <a:rPr lang="en-US" sz="1200" spc="-5" dirty="0" smtClean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spc="-10" dirty="0">
                          <a:solidFill>
                            <a:schemeClr val="tx1"/>
                          </a:solidFill>
                          <a:effectLst/>
                        </a:rPr>
                        <a:t>testing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683901002"/>
                  </a:ext>
                </a:extLst>
              </a:tr>
              <a:tr h="395728">
                <a:tc>
                  <a:txBody>
                    <a:bodyPr/>
                    <a:lstStyle/>
                    <a:p>
                      <a:pPr marL="1270" marR="635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 spc="-10">
                          <a:solidFill>
                            <a:schemeClr val="tx1"/>
                          </a:solidFill>
                          <a:effectLst/>
                        </a:rPr>
                        <a:t>Input’s</a:t>
                      </a:r>
                      <a:endParaRPr lang="en-US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11125" marR="109855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Email,</a:t>
                      </a:r>
                      <a:r>
                        <a:rPr lang="en-US" sz="1200" spc="-5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spc="-10">
                          <a:solidFill>
                            <a:schemeClr val="tx1"/>
                          </a:solidFill>
                          <a:effectLst/>
                        </a:rPr>
                        <a:t>Password</a:t>
                      </a:r>
                      <a:endParaRPr lang="en-US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189208167"/>
                  </a:ext>
                </a:extLst>
              </a:tr>
              <a:tr h="1928693">
                <a:tc>
                  <a:txBody>
                    <a:bodyPr/>
                    <a:lstStyle/>
                    <a:p>
                      <a:pPr marL="635" marR="1270" algn="ctr">
                        <a:lnSpc>
                          <a:spcPts val="1365"/>
                        </a:lnSpc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Desired</a:t>
                      </a:r>
                      <a:r>
                        <a:rPr lang="en-US" sz="1200" spc="-25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spc="-10">
                          <a:solidFill>
                            <a:schemeClr val="tx1"/>
                          </a:solidFill>
                          <a:effectLst/>
                        </a:rPr>
                        <a:t>Output’s</a:t>
                      </a:r>
                      <a:endParaRPr lang="en-US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11125" marR="108585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 smtClean="0">
                          <a:solidFill>
                            <a:schemeClr val="tx1"/>
                          </a:solidFill>
                          <a:effectLst/>
                        </a:rPr>
                        <a:t>User, Vendor</a:t>
                      </a:r>
                      <a:r>
                        <a:rPr lang="en-US" sz="1200" spc="-20" dirty="0" smtClean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and</a:t>
                      </a:r>
                      <a:r>
                        <a:rPr lang="en-US" sz="1200" spc="-2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Admin</a:t>
                      </a:r>
                      <a:r>
                        <a:rPr lang="en-US" sz="1200" spc="-2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will</a:t>
                      </a:r>
                      <a:r>
                        <a:rPr lang="en-US" sz="1200" spc="-1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get</a:t>
                      </a:r>
                      <a:r>
                        <a:rPr lang="en-US" sz="1200" spc="-1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en-US" sz="1200" spc="-2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to</a:t>
                      </a:r>
                      <a:r>
                        <a:rPr lang="en-US" sz="1200" spc="-2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their</a:t>
                      </a:r>
                      <a:r>
                        <a:rPr lang="en-US" sz="1200" spc="-25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modules</a:t>
                      </a:r>
                      <a:r>
                        <a:rPr lang="en-US" sz="1200" spc="-2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when</a:t>
                      </a:r>
                      <a:r>
                        <a:rPr lang="en-US" sz="1200" spc="-2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they</a:t>
                      </a:r>
                      <a:r>
                        <a:rPr lang="en-US" sz="1200" spc="-45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will give their valid email, password , otherwise they cannot get the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111125" marR="108585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en-US" sz="1200" spc="-15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to</a:t>
                      </a:r>
                      <a:r>
                        <a:rPr lang="en-US" sz="1200" spc="-5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the </a:t>
                      </a:r>
                      <a:r>
                        <a:rPr lang="en-US" sz="1200" spc="-10" dirty="0">
                          <a:solidFill>
                            <a:schemeClr val="tx1"/>
                          </a:solidFill>
                          <a:effectLst/>
                        </a:rPr>
                        <a:t>module.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615364631"/>
                  </a:ext>
                </a:extLst>
              </a:tr>
              <a:tr h="941294">
                <a:tc>
                  <a:txBody>
                    <a:bodyPr/>
                    <a:lstStyle/>
                    <a:p>
                      <a:pPr marL="635" marR="1270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Actual</a:t>
                      </a:r>
                      <a:r>
                        <a:rPr lang="en-US" sz="1200" spc="-10">
                          <a:solidFill>
                            <a:schemeClr val="tx1"/>
                          </a:solidFill>
                          <a:effectLst/>
                        </a:rPr>
                        <a:t> Output’s</a:t>
                      </a:r>
                      <a:endParaRPr lang="en-US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11125" marR="110490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A</a:t>
                      </a:r>
                      <a:r>
                        <a:rPr lang="en-US" sz="1200" spc="-1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verified email</a:t>
                      </a:r>
                      <a:r>
                        <a:rPr lang="en-US" sz="1200" spc="-1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address</a:t>
                      </a:r>
                      <a:r>
                        <a:rPr lang="en-US" sz="1200" spc="5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and</a:t>
                      </a:r>
                      <a:r>
                        <a:rPr lang="en-US" sz="1200" spc="-1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password</a:t>
                      </a:r>
                      <a:r>
                        <a:rPr lang="en-US" sz="1200" spc="-5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will grant</a:t>
                      </a:r>
                      <a:r>
                        <a:rPr lang="en-US" sz="1200" spc="5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en-US" sz="1200" spc="-1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to</a:t>
                      </a:r>
                      <a:r>
                        <a:rPr lang="en-US" sz="1200" spc="-5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the</a:t>
                      </a:r>
                      <a:r>
                        <a:rPr lang="en-US" sz="1200" spc="-5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spc="-20">
                          <a:solidFill>
                            <a:schemeClr val="tx1"/>
                          </a:solidFill>
                          <a:effectLst/>
                        </a:rPr>
                        <a:t>user</a:t>
                      </a:r>
                      <a:endParaRPr lang="en-US" sz="110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111125" marR="109855" algn="ctr">
                        <a:lnSpc>
                          <a:spcPts val="1350"/>
                        </a:lnSpc>
                        <a:spcBef>
                          <a:spcPts val="700"/>
                        </a:spcBef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and</a:t>
                      </a:r>
                      <a:r>
                        <a:rPr lang="en-US" sz="1200" spc="-5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the </a:t>
                      </a:r>
                      <a:r>
                        <a:rPr lang="en-US" sz="1200" spc="-10">
                          <a:solidFill>
                            <a:schemeClr val="tx1"/>
                          </a:solidFill>
                          <a:effectLst/>
                        </a:rPr>
                        <a:t>administrator.</a:t>
                      </a:r>
                      <a:endParaRPr lang="en-US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7568360"/>
                  </a:ext>
                </a:extLst>
              </a:tr>
              <a:tr h="941294">
                <a:tc>
                  <a:txBody>
                    <a:bodyPr/>
                    <a:lstStyle/>
                    <a:p>
                      <a:pPr marL="635" marR="1270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 spc="-10" dirty="0">
                          <a:solidFill>
                            <a:schemeClr val="tx1"/>
                          </a:solidFill>
                          <a:effectLst/>
                        </a:rPr>
                        <a:t>Verdict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11125" marR="110490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Both</a:t>
                      </a:r>
                      <a:r>
                        <a:rPr lang="en-US" sz="1200" spc="-5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the</a:t>
                      </a:r>
                      <a:r>
                        <a:rPr lang="en-US" sz="1200" spc="-1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desired</a:t>
                      </a:r>
                      <a:r>
                        <a:rPr lang="en-US" sz="1200" spc="5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and</a:t>
                      </a:r>
                      <a:r>
                        <a:rPr lang="en-US" sz="1200" spc="-5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actual</a:t>
                      </a:r>
                      <a:r>
                        <a:rPr lang="en-US" sz="1200" spc="-5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outputs</a:t>
                      </a:r>
                      <a:r>
                        <a:rPr lang="en-US" sz="1200" spc="-5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show</a:t>
                      </a:r>
                      <a:r>
                        <a:rPr lang="en-US" sz="1200" spc="-5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that</a:t>
                      </a:r>
                      <a:r>
                        <a:rPr lang="en-US" sz="1200" spc="-5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the</a:t>
                      </a:r>
                      <a:r>
                        <a:rPr lang="en-US" sz="1200" spc="-5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system</a:t>
                      </a:r>
                      <a:r>
                        <a:rPr lang="en-US" sz="1200" spc="-5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login </a:t>
                      </a:r>
                      <a:r>
                        <a:rPr lang="en-US" sz="1200" spc="-25" dirty="0">
                          <a:solidFill>
                            <a:schemeClr val="tx1"/>
                          </a:solidFill>
                          <a:effectLst/>
                        </a:rPr>
                        <a:t>is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111125" marR="111125" algn="ctr">
                        <a:lnSpc>
                          <a:spcPts val="1350"/>
                        </a:lnSpc>
                        <a:spcBef>
                          <a:spcPts val="695"/>
                        </a:spcBef>
                        <a:buNone/>
                      </a:pPr>
                      <a:r>
                        <a:rPr lang="en-US" sz="1200" spc="-10" dirty="0">
                          <a:solidFill>
                            <a:schemeClr val="tx1"/>
                          </a:solidFill>
                          <a:effectLst/>
                        </a:rPr>
                        <a:t>successful.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31564695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8F999973-F75B-8C87-BAC9-ABC9E188E66C}"/>
              </a:ext>
            </a:extLst>
          </p:cNvPr>
          <p:cNvSpPr txBox="1"/>
          <p:nvPr/>
        </p:nvSpPr>
        <p:spPr>
          <a:xfrm>
            <a:off x="0" y="7482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226695" algn="ctr">
              <a:spcBef>
                <a:spcPts val="305"/>
              </a:spcBef>
              <a:spcAft>
                <a:spcPts val="0"/>
              </a:spcAf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Table: Test</a:t>
            </a:r>
            <a:r>
              <a:rPr lang="en-US" sz="1800" b="1" spc="-2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Scenario</a:t>
            </a:r>
            <a:r>
              <a:rPr lang="en-US" sz="1800" b="1" spc="-2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b="1" spc="-5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34295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4842210-A4F2-9C5B-7CF5-284AB0680641}"/>
              </a:ext>
            </a:extLst>
          </p:cNvPr>
          <p:cNvSpPr txBox="1"/>
          <p:nvPr/>
        </p:nvSpPr>
        <p:spPr>
          <a:xfrm>
            <a:off x="2775857" y="250762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cap="all" spc="180" dirty="0">
                <a:solidFill>
                  <a:schemeClr val="dk1"/>
                </a:solidFill>
                <a:latin typeface="Lucida Calligraphy" panose="03010101010101010101" pitchFamily="66" charset="0"/>
                <a:ea typeface="DejaVu Sans"/>
              </a:rPr>
              <a:t>TESTING Scenario</a:t>
            </a:r>
            <a:endParaRPr lang="en-US" sz="2000" dirty="0">
              <a:latin typeface="Lucida Calligraphy" panose="03010101010101010101" pitchFamily="66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xmlns="" id="{0C13A0FD-64B0-B071-0A18-287062DA62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475883"/>
              </p:ext>
            </p:extLst>
          </p:nvPr>
        </p:nvGraphicFramePr>
        <p:xfrm>
          <a:off x="1567542" y="2111829"/>
          <a:ext cx="9013371" cy="3853541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2278949">
                  <a:extLst>
                    <a:ext uri="{9D8B030D-6E8A-4147-A177-3AD203B41FA5}">
                      <a16:colId xmlns:a16="http://schemas.microsoft.com/office/drawing/2014/main" xmlns="" val="969352673"/>
                    </a:ext>
                  </a:extLst>
                </a:gridCol>
                <a:gridCol w="6734422">
                  <a:extLst>
                    <a:ext uri="{9D8B030D-6E8A-4147-A177-3AD203B41FA5}">
                      <a16:colId xmlns:a16="http://schemas.microsoft.com/office/drawing/2014/main" xmlns="" val="1962501006"/>
                    </a:ext>
                  </a:extLst>
                </a:gridCol>
              </a:tblGrid>
              <a:tr h="421577">
                <a:tc>
                  <a:txBody>
                    <a:bodyPr/>
                    <a:lstStyle/>
                    <a:p>
                      <a:pPr marL="2540" marR="1905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 spc="-10" dirty="0">
                          <a:effectLst/>
                        </a:rPr>
                        <a:t>Scenario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985" marR="3175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User</a:t>
                      </a:r>
                      <a:r>
                        <a:rPr lang="en-US" sz="1200" spc="-10" dirty="0">
                          <a:effectLst/>
                        </a:rPr>
                        <a:t> Registration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2606043314"/>
                  </a:ext>
                </a:extLst>
              </a:tr>
              <a:tr h="423624">
                <a:tc>
                  <a:txBody>
                    <a:bodyPr/>
                    <a:lstStyle/>
                    <a:p>
                      <a:pPr marL="2540" marR="0" algn="ctr">
                        <a:lnSpc>
                          <a:spcPts val="1365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Input’s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985" marR="3175" algn="ctr">
                        <a:lnSpc>
                          <a:spcPts val="136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Name,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Email,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 spc="-10">
                          <a:effectLst/>
                        </a:rPr>
                        <a:t>Password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1914414576"/>
                  </a:ext>
                </a:extLst>
              </a:tr>
              <a:tr h="1002780">
                <a:tc>
                  <a:txBody>
                    <a:bodyPr/>
                    <a:lstStyle/>
                    <a:p>
                      <a:pPr marL="2540" marR="1905" algn="ctr">
                        <a:lnSpc>
                          <a:spcPts val="135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Desired</a:t>
                      </a:r>
                      <a:r>
                        <a:rPr lang="en-US" sz="1200" spc="-25">
                          <a:effectLst/>
                        </a:rPr>
                        <a:t> </a:t>
                      </a:r>
                      <a:r>
                        <a:rPr lang="en-US" sz="1200" spc="-10">
                          <a:effectLst/>
                        </a:rPr>
                        <a:t>Output’s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985" marR="3175" algn="ctr">
                        <a:lnSpc>
                          <a:spcPts val="1355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When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the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user will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give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the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valid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email,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they</a:t>
                      </a:r>
                      <a:r>
                        <a:rPr lang="en-US" sz="1200" spc="-2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will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get</a:t>
                      </a:r>
                      <a:r>
                        <a:rPr lang="en-US" sz="1200" spc="10" dirty="0">
                          <a:effectLst/>
                        </a:rPr>
                        <a:t> </a:t>
                      </a:r>
                      <a:r>
                        <a:rPr lang="en-US" sz="1200" spc="10" dirty="0" smtClean="0">
                          <a:effectLst/>
                        </a:rPr>
                        <a:t>OTP on </a:t>
                      </a:r>
                      <a:r>
                        <a:rPr lang="en-US" sz="1200" spc="-10" dirty="0" smtClean="0">
                          <a:effectLst/>
                        </a:rPr>
                        <a:t>email</a:t>
                      </a:r>
                      <a:endParaRPr lang="en-US" sz="1100" dirty="0">
                        <a:effectLst/>
                      </a:endParaRPr>
                    </a:p>
                    <a:p>
                      <a:pPr marL="6985" marR="3810" algn="ctr">
                        <a:lnSpc>
                          <a:spcPts val="1350"/>
                        </a:lnSpc>
                        <a:spcBef>
                          <a:spcPts val="695"/>
                        </a:spcBef>
                        <a:buNone/>
                      </a:pPr>
                      <a:r>
                        <a:rPr lang="en-US" sz="1200" dirty="0">
                          <a:effectLst/>
                        </a:rPr>
                        <a:t>notification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spc="-5" dirty="0" smtClean="0">
                          <a:effectLst/>
                        </a:rPr>
                        <a:t>and after conforming OTP </a:t>
                      </a:r>
                      <a:r>
                        <a:rPr lang="en-US" sz="1200" dirty="0" smtClean="0">
                          <a:effectLst/>
                        </a:rPr>
                        <a:t>their</a:t>
                      </a:r>
                      <a:r>
                        <a:rPr lang="en-US" sz="1200" spc="-10" dirty="0" smtClean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registration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is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spc="-20" dirty="0">
                          <a:effectLst/>
                        </a:rPr>
                        <a:t>done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2646638274"/>
                  </a:ext>
                </a:extLst>
              </a:tr>
              <a:tr h="1002780">
                <a:tc>
                  <a:txBody>
                    <a:bodyPr/>
                    <a:lstStyle/>
                    <a:p>
                      <a:pPr marL="2540" marR="1905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Actual</a:t>
                      </a:r>
                      <a:r>
                        <a:rPr lang="en-US" sz="1200" spc="-10">
                          <a:effectLst/>
                        </a:rPr>
                        <a:t> Output’s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985" marR="4445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The</a:t>
                      </a:r>
                      <a:r>
                        <a:rPr lang="en-US" sz="1200" spc="-2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user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can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confirm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their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registration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through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notification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 spc="-10">
                          <a:effectLst/>
                        </a:rPr>
                        <a:t>whether</a:t>
                      </a:r>
                      <a:endParaRPr lang="en-US" sz="1100">
                        <a:effectLst/>
                      </a:endParaRPr>
                    </a:p>
                    <a:p>
                      <a:pPr marL="6985" marR="3175" algn="ctr">
                        <a:lnSpc>
                          <a:spcPts val="1350"/>
                        </a:lnSpc>
                        <a:spcBef>
                          <a:spcPts val="69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their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email is </a:t>
                      </a:r>
                      <a:r>
                        <a:rPr lang="en-US" sz="1200" spc="-10">
                          <a:effectLst/>
                        </a:rPr>
                        <a:t>authentic.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4222273310"/>
                  </a:ext>
                </a:extLst>
              </a:tr>
              <a:tr h="1002780">
                <a:tc>
                  <a:txBody>
                    <a:bodyPr/>
                    <a:lstStyle/>
                    <a:p>
                      <a:pPr marL="2540" marR="1905" algn="ctr">
                        <a:lnSpc>
                          <a:spcPts val="1365"/>
                        </a:lnSpc>
                        <a:buNone/>
                      </a:pPr>
                      <a:r>
                        <a:rPr lang="en-US" sz="1200" spc="-10">
                          <a:effectLst/>
                        </a:rPr>
                        <a:t>Verdict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985" marR="3810" algn="ctr">
                        <a:lnSpc>
                          <a:spcPts val="1365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Actual</a:t>
                      </a:r>
                      <a:r>
                        <a:rPr lang="en-US" sz="1200" spc="-1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and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Desired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Output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show that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the</a:t>
                      </a:r>
                      <a:r>
                        <a:rPr lang="en-US" sz="1200" spc="-1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system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register </a:t>
                      </a:r>
                      <a:r>
                        <a:rPr lang="en-US" sz="1200" spc="-25" dirty="0">
                          <a:effectLst/>
                        </a:rPr>
                        <a:t>is</a:t>
                      </a:r>
                      <a:endParaRPr lang="en-US" sz="1100" dirty="0">
                        <a:effectLst/>
                      </a:endParaRPr>
                    </a:p>
                    <a:p>
                      <a:pPr marL="6985" marR="4445" algn="ctr">
                        <a:lnSpc>
                          <a:spcPts val="1350"/>
                        </a:lnSpc>
                        <a:spcBef>
                          <a:spcPts val="685"/>
                        </a:spcBef>
                        <a:buNone/>
                      </a:pPr>
                      <a:r>
                        <a:rPr lang="en-US" sz="1200" dirty="0">
                          <a:effectLst/>
                        </a:rPr>
                        <a:t>operating</a:t>
                      </a:r>
                      <a:r>
                        <a:rPr lang="en-US" sz="1200" spc="-2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as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spc="-10" dirty="0">
                          <a:effectLst/>
                        </a:rPr>
                        <a:t>intended.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Vrinda" panose="020B0502040204020203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xmlns="" val="383414392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5A949A98-BA11-9F92-5B19-F984FE546A16}"/>
              </a:ext>
            </a:extLst>
          </p:cNvPr>
          <p:cNvSpPr txBox="1"/>
          <p:nvPr/>
        </p:nvSpPr>
        <p:spPr>
          <a:xfrm>
            <a:off x="-881742" y="1084987"/>
            <a:ext cx="6096000" cy="561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0" marR="0" indent="457200" algn="just">
              <a:lnSpc>
                <a:spcPct val="200000"/>
              </a:lnSpc>
              <a:spcAft>
                <a:spcPts val="800"/>
              </a:spcAft>
              <a:buNone/>
            </a:pP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Table 8.2 Test Scenario 2</a:t>
            </a:r>
          </a:p>
        </p:txBody>
      </p:sp>
    </p:spTree>
    <p:extLst>
      <p:ext uri="{BB962C8B-B14F-4D97-AF65-F5344CB8AC3E}">
        <p14:creationId xmlns:p14="http://schemas.microsoft.com/office/powerpoint/2010/main" val="33876761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xmlns="" id="{4A6D317A-BF96-E3A1-D81E-1DDC0DD3D6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8C11FB88-2D15-D1BC-A9A7-B8BF6979279E}"/>
              </a:ext>
            </a:extLst>
          </p:cNvPr>
          <p:cNvSpPr txBox="1"/>
          <p:nvPr/>
        </p:nvSpPr>
        <p:spPr>
          <a:xfrm>
            <a:off x="1774370" y="1905506"/>
            <a:ext cx="8588829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dirty="0">
                <a:solidFill>
                  <a:schemeClr val="accent1">
                    <a:lumMod val="60000"/>
                    <a:lumOff val="40000"/>
                  </a:schemeClr>
                </a:solidFill>
                <a:latin typeface="Lucida Calligraphy" panose="03010101010101010101" pitchFamily="66" charset="0"/>
              </a:rPr>
              <a:t>Project Demonstration</a:t>
            </a:r>
          </a:p>
        </p:txBody>
      </p:sp>
    </p:spTree>
    <p:extLst>
      <p:ext uri="{BB962C8B-B14F-4D97-AF65-F5344CB8AC3E}">
        <p14:creationId xmlns:p14="http://schemas.microsoft.com/office/powerpoint/2010/main" val="12567425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87F9AEFE-E57B-65D8-F93B-6C8A2A4850D2}"/>
              </a:ext>
            </a:extLst>
          </p:cNvPr>
          <p:cNvSpPr txBox="1"/>
          <p:nvPr/>
        </p:nvSpPr>
        <p:spPr>
          <a:xfrm>
            <a:off x="2122714" y="392668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600" b="1" dirty="0">
                <a:latin typeface="Lucida Calligraphy" panose="03010101010101010101" pitchFamily="66" charset="0"/>
                <a:ea typeface="Times New Roman"/>
                <a:cs typeface="Times New Roman"/>
                <a:sym typeface="Times New Roman"/>
              </a:rPr>
              <a:t>Limitations</a:t>
            </a:r>
            <a:r>
              <a:rPr lang="en-US" sz="4000" dirty="0">
                <a:latin typeface="Lucida Calligraphy" panose="03010101010101010101" pitchFamily="66" charset="0"/>
                <a:ea typeface="Times New Roman"/>
                <a:cs typeface="Times New Roman"/>
                <a:sym typeface="Times New Roman"/>
              </a:rPr>
              <a:t/>
            </a:r>
            <a:br>
              <a:rPr lang="en-US" sz="4000" dirty="0">
                <a:latin typeface="Lucida Calligraphy" panose="03010101010101010101" pitchFamily="66" charset="0"/>
                <a:ea typeface="Times New Roman"/>
                <a:cs typeface="Times New Roman"/>
                <a:sym typeface="Times New Roman"/>
              </a:rPr>
            </a:br>
            <a:endParaRPr lang="en-US" sz="3600" dirty="0">
              <a:latin typeface="Lucida Calligraphy" panose="03010101010101010101" pitchFamily="66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7DE77787-F684-94C3-4828-C5B708A74F4F}"/>
              </a:ext>
            </a:extLst>
          </p:cNvPr>
          <p:cNvSpPr txBox="1"/>
          <p:nvPr/>
        </p:nvSpPr>
        <p:spPr>
          <a:xfrm>
            <a:off x="3216728" y="1691024"/>
            <a:ext cx="5758543" cy="2687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>
                <a:ea typeface="Symbol" panose="05050102010706020507" pitchFamily="18" charset="2"/>
                <a:cs typeface="Symbol" panose="05050102010706020507" pitchFamily="18" charset="2"/>
              </a:rPr>
              <a:t>Limited Payment options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>
                <a:ea typeface="Symbol" panose="05050102010706020507" pitchFamily="18" charset="2"/>
                <a:cs typeface="Symbol" panose="05050102010706020507" pitchFamily="18" charset="2"/>
              </a:rPr>
              <a:t>Sign</a:t>
            </a:r>
            <a:r>
              <a:rPr lang="en-US" spc="-5" dirty="0">
                <a:ea typeface="Symbol" panose="05050102010706020507" pitchFamily="18" charset="2"/>
                <a:cs typeface="Symbol" panose="05050102010706020507" pitchFamily="18" charset="2"/>
              </a:rPr>
              <a:t> </a:t>
            </a:r>
            <a:r>
              <a:rPr lang="en-US" dirty="0">
                <a:ea typeface="Symbol" panose="05050102010706020507" pitchFamily="18" charset="2"/>
                <a:cs typeface="Symbol" panose="05050102010706020507" pitchFamily="18" charset="2"/>
              </a:rPr>
              <a:t>up</a:t>
            </a:r>
            <a:r>
              <a:rPr lang="en-US" spc="-5" dirty="0">
                <a:ea typeface="Symbol" panose="05050102010706020507" pitchFamily="18" charset="2"/>
                <a:cs typeface="Symbol" panose="05050102010706020507" pitchFamily="18" charset="2"/>
              </a:rPr>
              <a:t> </a:t>
            </a:r>
            <a:r>
              <a:rPr lang="en-US" dirty="0">
                <a:ea typeface="Symbol" panose="05050102010706020507" pitchFamily="18" charset="2"/>
                <a:cs typeface="Symbol" panose="05050102010706020507" pitchFamily="18" charset="2"/>
              </a:rPr>
              <a:t>with Google/</a:t>
            </a:r>
            <a:r>
              <a:rPr lang="en-US" spc="-5" dirty="0">
                <a:ea typeface="Symbol" panose="05050102010706020507" pitchFamily="18" charset="2"/>
                <a:cs typeface="Symbol" panose="05050102010706020507" pitchFamily="18" charset="2"/>
              </a:rPr>
              <a:t> </a:t>
            </a:r>
            <a:r>
              <a:rPr lang="en-US" dirty="0">
                <a:ea typeface="Symbol" panose="05050102010706020507" pitchFamily="18" charset="2"/>
                <a:cs typeface="Symbol" panose="05050102010706020507" pitchFamily="18" charset="2"/>
              </a:rPr>
              <a:t>Face</a:t>
            </a:r>
            <a:r>
              <a:rPr lang="en-US" spc="-5" dirty="0">
                <a:ea typeface="Symbol" panose="05050102010706020507" pitchFamily="18" charset="2"/>
                <a:cs typeface="Symbol" panose="05050102010706020507" pitchFamily="18" charset="2"/>
              </a:rPr>
              <a:t> </a:t>
            </a:r>
            <a:r>
              <a:rPr lang="en-US" dirty="0">
                <a:ea typeface="Symbol" panose="05050102010706020507" pitchFamily="18" charset="2"/>
                <a:cs typeface="Symbol" panose="05050102010706020507" pitchFamily="18" charset="2"/>
              </a:rPr>
              <a:t>book</a:t>
            </a:r>
            <a:r>
              <a:rPr lang="en-US" spc="-5" dirty="0">
                <a:ea typeface="Symbol" panose="05050102010706020507" pitchFamily="18" charset="2"/>
                <a:cs typeface="Symbol" panose="05050102010706020507" pitchFamily="18" charset="2"/>
              </a:rPr>
              <a:t> </a:t>
            </a:r>
            <a:r>
              <a:rPr lang="en-US" dirty="0">
                <a:ea typeface="Symbol" panose="05050102010706020507" pitchFamily="18" charset="2"/>
                <a:cs typeface="Symbol" panose="05050102010706020507" pitchFamily="18" charset="2"/>
              </a:rPr>
              <a:t>will be</a:t>
            </a:r>
            <a:r>
              <a:rPr lang="en-US" spc="-50" dirty="0">
                <a:ea typeface="Symbol" panose="05050102010706020507" pitchFamily="18" charset="2"/>
                <a:cs typeface="Symbol" panose="05050102010706020507" pitchFamily="18" charset="2"/>
              </a:rPr>
              <a:t> </a:t>
            </a:r>
            <a:r>
              <a:rPr lang="en-US" dirty="0">
                <a:ea typeface="Symbol" panose="05050102010706020507" pitchFamily="18" charset="2"/>
                <a:cs typeface="Symbol" panose="05050102010706020507" pitchFamily="18" charset="2"/>
              </a:rPr>
              <a:t>added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Email cannot be used to retrieve a password</a:t>
            </a:r>
            <a:r>
              <a:rPr lang="en-US" dirty="0" smtClean="0"/>
              <a:t>.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 smtClean="0"/>
              <a:t>Admin unable to add new </a:t>
            </a:r>
            <a:r>
              <a:rPr lang="en-US" dirty="0" err="1" smtClean="0"/>
              <a:t>catagory</a:t>
            </a:r>
            <a:endParaRPr lang="en-US" dirty="0"/>
          </a:p>
          <a:p>
            <a:pPr marL="342900" indent="-342900" algn="just">
              <a:lnSpc>
                <a:spcPct val="150000"/>
              </a:lnSpc>
              <a:buFont typeface="Arial" pitchFamily="34" charset="0"/>
              <a:buChar char="•"/>
            </a:pPr>
            <a:endParaRPr lang="en-US" dirty="0"/>
          </a:p>
          <a:p>
            <a:pPr marL="685800" lvl="0" indent="-317500" algn="just" rtl="0">
              <a:lnSpc>
                <a:spcPct val="150000"/>
              </a:lnSpc>
              <a:spcBef>
                <a:spcPts val="800"/>
              </a:spcBef>
              <a:spcAft>
                <a:spcPts val="800"/>
              </a:spcAft>
              <a:buSzPts val="1400"/>
              <a:buFont typeface="Times New Roman"/>
              <a:buChar char="●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5348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6999C80-AA4A-AD5A-189E-D56B8E142344}"/>
              </a:ext>
            </a:extLst>
          </p:cNvPr>
          <p:cNvSpPr txBox="1"/>
          <p:nvPr/>
        </p:nvSpPr>
        <p:spPr>
          <a:xfrm>
            <a:off x="1676399" y="40316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3600" dirty="0">
                <a:latin typeface="Lucida Calligraphy" panose="03010101010101010101" pitchFamily="66" charset="0"/>
                <a:cs typeface="Times New Roman" pitchFamily="18" charset="0"/>
              </a:rPr>
              <a:t>Future Work</a:t>
            </a:r>
            <a:endParaRPr lang="en-US" sz="3600" dirty="0">
              <a:latin typeface="Lucida Calligraphy" panose="03010101010101010101" pitchFamily="66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EFD415D-8257-6119-323C-6A1A3E4CD399}"/>
              </a:ext>
            </a:extLst>
          </p:cNvPr>
          <p:cNvSpPr txBox="1"/>
          <p:nvPr/>
        </p:nvSpPr>
        <p:spPr>
          <a:xfrm>
            <a:off x="2873829" y="1350220"/>
            <a:ext cx="660762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b="1" dirty="0"/>
              <a:t>Augmented Reality (AR)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/>
              <a:t>Live chatting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>
                <a:ea typeface="Symbol" panose="05050102010706020507" pitchFamily="18" charset="2"/>
                <a:cs typeface="Symbol" panose="05050102010706020507" pitchFamily="18" charset="2"/>
              </a:rPr>
              <a:t>Delivery &amp; </a:t>
            </a:r>
            <a:r>
              <a:rPr lang="en-US" sz="2400" dirty="0"/>
              <a:t>Return process.</a:t>
            </a:r>
          </a:p>
          <a:p>
            <a:endParaRPr lang="en-US" dirty="0">
              <a:ea typeface="Symbol" panose="05050102010706020507" pitchFamily="18" charset="2"/>
              <a:cs typeface="Symbol" panose="05050102010706020507" pitchFamily="18" charset="2"/>
            </a:endParaRPr>
          </a:p>
          <a:p>
            <a:endParaRPr lang="en-US" dirty="0"/>
          </a:p>
          <a:p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50401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1387C997-4A10-2374-3C5D-EC492C4D7598}"/>
              </a:ext>
            </a:extLst>
          </p:cNvPr>
          <p:cNvSpPr txBox="1"/>
          <p:nvPr/>
        </p:nvSpPr>
        <p:spPr>
          <a:xfrm>
            <a:off x="3581400" y="1535277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8000" dirty="0">
                <a:solidFill>
                  <a:schemeClr val="accent1">
                    <a:lumMod val="60000"/>
                    <a:lumOff val="40000"/>
                  </a:schemeClr>
                </a:solidFill>
                <a:latin typeface="Lucida Calligraphy" panose="03010101010101010101" pitchFamily="66" charset="0"/>
              </a:rPr>
              <a:t>Conclusion</a:t>
            </a:r>
            <a:endParaRPr lang="en-US" sz="8000" dirty="0">
              <a:solidFill>
                <a:schemeClr val="accent1">
                  <a:lumMod val="60000"/>
                  <a:lumOff val="40000"/>
                </a:schemeClr>
              </a:solidFill>
              <a:latin typeface="Lucida Calligraphy" panose="03010101010101010101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4121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C64A1DCB-1D8E-F109-3C78-715D98437BCA}"/>
              </a:ext>
            </a:extLst>
          </p:cNvPr>
          <p:cNvSpPr txBox="1"/>
          <p:nvPr/>
        </p:nvSpPr>
        <p:spPr>
          <a:xfrm>
            <a:off x="1132114" y="805543"/>
            <a:ext cx="10080172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latin typeface="Lucida Calligraphy" panose="03010101010101010101" pitchFamily="66" charset="0"/>
              </a:rPr>
              <a:t>Any Question</a:t>
            </a:r>
          </a:p>
        </p:txBody>
      </p:sp>
    </p:spTree>
    <p:extLst>
      <p:ext uri="{BB962C8B-B14F-4D97-AF65-F5344CB8AC3E}">
        <p14:creationId xmlns:p14="http://schemas.microsoft.com/office/powerpoint/2010/main" val="165504371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493</TotalTime>
  <Words>1567</Words>
  <Application>Microsoft Office PowerPoint</Application>
  <PresentationFormat>Custom</PresentationFormat>
  <Paragraphs>261</Paragraphs>
  <Slides>51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2" baseType="lpstr">
      <vt:lpstr>Retrospect</vt:lpstr>
      <vt:lpstr>PowerPoint Presentation</vt:lpstr>
      <vt:lpstr>Contents</vt:lpstr>
      <vt:lpstr>Introduction</vt:lpstr>
      <vt:lpstr>PowerPoint Presentation</vt:lpstr>
      <vt:lpstr>Organizational Overview</vt:lpstr>
      <vt:lpstr>Organizational Structure</vt:lpstr>
      <vt:lpstr>Background Study</vt:lpstr>
      <vt:lpstr>PowerPoint Presentation</vt:lpstr>
      <vt:lpstr>Project Objectives</vt:lpstr>
      <vt:lpstr>Process model</vt:lpstr>
      <vt:lpstr> Process model</vt:lpstr>
      <vt:lpstr>Process model</vt:lpstr>
      <vt:lpstr>PowerPoint Presentation</vt:lpstr>
      <vt:lpstr> User Requirements</vt:lpstr>
      <vt:lpstr>User  Requirements</vt:lpstr>
      <vt:lpstr>user  Requirements</vt:lpstr>
      <vt:lpstr> Requirements </vt:lpstr>
      <vt:lpstr>Requirements </vt:lpstr>
      <vt:lpstr>Hardware &amp; Software Requirements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Sanjida Emu</dc:creator>
  <cp:lastModifiedBy>MD Ashraful Islam</cp:lastModifiedBy>
  <cp:revision>56</cp:revision>
  <dcterms:created xsi:type="dcterms:W3CDTF">2026-01-21T14:04:38Z</dcterms:created>
  <dcterms:modified xsi:type="dcterms:W3CDTF">2026-05-31T02:46:06Z</dcterms:modified>
</cp:coreProperties>
</file>